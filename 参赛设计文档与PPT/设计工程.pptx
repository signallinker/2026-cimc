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11826042" r:id="rId4"/>
    <p:sldId id="11826046" r:id="rId5"/>
    <p:sldId id="11826048" r:id="rId6"/>
    <p:sldId id="11826047" r:id="rId7"/>
    <p:sldId id="11826043" r:id="rId8"/>
    <p:sldId id="11825937" r:id="rId9"/>
    <p:sldId id="11826049" r:id="rId11"/>
    <p:sldId id="11826036" r:id="rId12"/>
    <p:sldId id="11826050" r:id="rId13"/>
    <p:sldId id="11826051" r:id="rId14"/>
    <p:sldId id="11826037" r:id="rId15"/>
    <p:sldId id="11826052" r:id="rId16"/>
    <p:sldId id="11826053" r:id="rId17"/>
    <p:sldId id="11826038" r:id="rId18"/>
    <p:sldId id="11826039" r:id="rId19"/>
    <p:sldId id="11826054" r:id="rId20"/>
    <p:sldId id="11826040" r:id="rId21"/>
  </p:sldIdLst>
  <p:sldSz cx="12192000" cy="6858000"/>
  <p:notesSz cx="6858000" cy="9144000"/>
  <p:custDataLst>
    <p:tags r:id="rId25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100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默认节" id="{DAE9ADA1-5E36-45F5-97F0-2D3C505091B4}">
          <p14:sldIdLst>
            <p14:sldId id="256"/>
            <p14:sldId id="11826042"/>
            <p14:sldId id="11826046"/>
            <p14:sldId id="11826048"/>
            <p14:sldId id="11826047"/>
            <p14:sldId id="11826043"/>
            <p14:sldId id="11825937"/>
            <p14:sldId id="11826049"/>
            <p14:sldId id="11826036"/>
            <p14:sldId id="11826050"/>
            <p14:sldId id="11826051"/>
            <p14:sldId id="11826037"/>
            <p14:sldId id="11826052"/>
            <p14:sldId id="11826053"/>
            <p14:sldId id="11826038"/>
            <p14:sldId id="11826039"/>
            <p14:sldId id="11826054"/>
            <p14:sldId id="1182604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DC3"/>
    <a:srgbClr val="2058DB"/>
    <a:srgbClr val="F5602B"/>
    <a:srgbClr val="326DCE"/>
    <a:srgbClr val="F5911E"/>
    <a:srgbClr val="E3E5E7"/>
    <a:srgbClr val="DBE3F0"/>
    <a:srgbClr val="000000"/>
    <a:srgbClr val="F0F0F0"/>
    <a:srgbClr val="3FCA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9" autoAdjust="0"/>
    <p:restoredTop sz="92740" autoAdjust="0"/>
  </p:normalViewPr>
  <p:slideViewPr>
    <p:cSldViewPr snapToGrid="0" showGuides="1">
      <p:cViewPr varScale="1">
        <p:scale>
          <a:sx n="90" d="100"/>
          <a:sy n="90" d="100"/>
        </p:scale>
        <p:origin x="638" y="58"/>
      </p:cViewPr>
      <p:guideLst>
        <p:guide pos="7277"/>
        <p:guide orient="horz" pos="4065"/>
        <p:guide orient="horz" pos="600"/>
        <p:guide orient="horz" pos="1253"/>
        <p:guide orient="horz" pos="3761"/>
        <p:guide orient="horz" pos="668"/>
        <p:guide orient="horz" pos="1065"/>
        <p:guide pos="3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500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40" name="Shape 24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7025" y="665163"/>
            <a:ext cx="5913438" cy="33258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042" y="216130"/>
            <a:ext cx="1014138" cy="6510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4.jpe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CC3AB-B001-40C9-A58C-9BD4673771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02BF3-5DCB-4373-A62A-15D55C1A680A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"/>
            <a:ext cx="12192000" cy="685767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51092" y="2824887"/>
            <a:ext cx="9489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en-US" altLang="zh-CN" sz="4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CIMC</a:t>
            </a:r>
            <a:r>
              <a:rPr lang="zh-CN" altLang="en-US" sz="4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“西门子杯”中国智能制造挑战赛</a:t>
            </a:r>
            <a:endParaRPr lang="zh-CN" altLang="en-US" sz="40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59607" y="5412084"/>
            <a:ext cx="7872784" cy="958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教育部中德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中外高级别人文交流对话机制成果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中国高等教育学会“</a:t>
            </a:r>
            <a:r>
              <a:rPr lang="zh-CN" altLang="zh-CN" sz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全国普通高校大学生竞赛榜单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”竞赛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中国高等教育学会“</a:t>
            </a:r>
            <a:r>
              <a:rPr lang="zh-CN" altLang="zh-CN" sz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全国普通高校大学生机器人竞赛指数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”竞赛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574" y="944563"/>
            <a:ext cx="1518627" cy="942111"/>
          </a:xfrm>
          <a:prstGeom prst="rect">
            <a:avLst/>
          </a:prstGeom>
        </p:spPr>
      </p:pic>
      <p:sp>
        <p:nvSpPr>
          <p:cNvPr id="2" name="矩形: 圆角 1"/>
          <p:cNvSpPr/>
          <p:nvPr/>
        </p:nvSpPr>
        <p:spPr>
          <a:xfrm>
            <a:off x="3273136" y="4131540"/>
            <a:ext cx="5654964" cy="4742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89169" y="4177998"/>
            <a:ext cx="53674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zh-CN" altLang="en-US" sz="2000" b="1" kern="1200" dirty="0">
                <a:solidFill>
                  <a:srgbClr val="1E52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嵌入式：（队伍编号）</a:t>
            </a:r>
            <a:endParaRPr lang="zh-CN" altLang="en-US" sz="2000" b="1" kern="1200" dirty="0">
              <a:solidFill>
                <a:srgbClr val="1E52C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51092" y="3123202"/>
            <a:ext cx="9489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zh-CN" altLang="en-US" sz="4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硬件设计部分</a:t>
            </a:r>
            <a:endParaRPr lang="zh-CN" altLang="en-US" sz="40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1130" y="1061085"/>
            <a:ext cx="12040235" cy="5725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400" b="1" dirty="0"/>
              <a:t>一</a:t>
            </a:r>
            <a:r>
              <a:rPr lang="en-US" altLang="zh-CN" sz="1400" b="1" dirty="0"/>
              <a:t>.</a:t>
            </a:r>
            <a:r>
              <a:rPr lang="zh-CN" altLang="en-US" sz="1400" b="1" dirty="0"/>
              <a:t>系统电源总体设计思路</a:t>
            </a:r>
            <a:endParaRPr lang="zh-CN" altLang="en-US" sz="1400" b="1" dirty="0"/>
          </a:p>
          <a:p>
            <a:pPr marL="0" indent="0">
              <a:buNone/>
            </a:pPr>
            <a:r>
              <a:rPr lang="zh-CN" altLang="en-US" sz="1400" b="1" dirty="0"/>
              <a:t>一、系统电源板总体设计思路：</a:t>
            </a:r>
            <a:endParaRPr lang="en-US" altLang="zh-CN" sz="1400" b="1" dirty="0"/>
          </a:p>
          <a:p>
            <a:pPr marL="0" indent="0">
              <a:buNone/>
            </a:pPr>
            <a:r>
              <a:rPr lang="en-US" altLang="zh-CN" sz="1400" b="1" dirty="0"/>
              <a:t>1. </a:t>
            </a:r>
            <a:r>
              <a:rPr lang="zh-CN" altLang="en-US" sz="1400" b="1" dirty="0"/>
              <a:t>输入保护与滤波：</a:t>
            </a:r>
            <a:r>
              <a:rPr lang="zh-CN" altLang="en-US" sz="1400" dirty="0">
                <a:sym typeface="+mn-ea"/>
              </a:rPr>
              <a:t>输入端串联肖特基二极管（</a:t>
            </a:r>
            <a:r>
              <a:rPr lang="en-US" altLang="zh-CN" sz="1400" dirty="0">
                <a:sym typeface="+mn-ea"/>
              </a:rPr>
              <a:t>SS34</a:t>
            </a:r>
            <a:r>
              <a:rPr lang="zh-CN" altLang="en-US" sz="1400" dirty="0">
                <a:sym typeface="+mn-ea"/>
              </a:rPr>
              <a:t>）实现防反接保护，防止电源极性接反损坏电路。并联多级滤波电容（</a:t>
            </a:r>
            <a:r>
              <a:rPr lang="en-US" altLang="zh-CN" sz="1400" dirty="0">
                <a:sym typeface="+mn-ea"/>
              </a:rPr>
              <a:t>220μF</a:t>
            </a:r>
            <a:r>
              <a:rPr lang="zh-CN" altLang="en-US"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100μF</a:t>
            </a:r>
            <a:r>
              <a:rPr lang="zh-CN" altLang="en-US"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10μF</a:t>
            </a:r>
            <a:r>
              <a:rPr lang="zh-CN" altLang="en-US"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100nF</a:t>
            </a:r>
            <a:r>
              <a:rPr lang="zh-CN" altLang="en-US" sz="1400" dirty="0">
                <a:sym typeface="+mn-ea"/>
              </a:rPr>
              <a:t>），滤除低频与高频噪声，保证输入稳定。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b="1" dirty="0"/>
              <a:t>2.DC-DC</a:t>
            </a:r>
            <a:r>
              <a:rPr lang="zh-CN" altLang="en-US" sz="1400" b="1" dirty="0"/>
              <a:t>降压主功能：</a:t>
            </a:r>
            <a:r>
              <a:rPr lang="zh-CN" altLang="en-US" sz="1400" dirty="0">
                <a:sym typeface="+mn-ea"/>
              </a:rPr>
              <a:t>选用</a:t>
            </a:r>
            <a:r>
              <a:rPr lang="en-US" altLang="zh-CN" sz="1400" dirty="0">
                <a:sym typeface="+mn-ea"/>
              </a:rPr>
              <a:t> GD30DC1354 </a:t>
            </a:r>
            <a:r>
              <a:rPr lang="zh-CN" altLang="en-US" sz="1400" dirty="0">
                <a:sym typeface="+mn-ea"/>
              </a:rPr>
              <a:t>同步降压芯片，支持</a:t>
            </a:r>
            <a:r>
              <a:rPr lang="en-US" altLang="zh-CN" sz="1400" dirty="0">
                <a:sym typeface="+mn-ea"/>
              </a:rPr>
              <a:t>12V~36V</a:t>
            </a:r>
            <a:r>
              <a:rPr lang="zh-CN" altLang="en-US" sz="1400" dirty="0">
                <a:sym typeface="+mn-ea"/>
              </a:rPr>
              <a:t>宽输入，输出固定</a:t>
            </a:r>
            <a:r>
              <a:rPr lang="en-US" altLang="zh-CN" sz="1400" dirty="0">
                <a:sym typeface="+mn-ea"/>
              </a:rPr>
              <a:t> 5V/2A</a:t>
            </a:r>
            <a:r>
              <a:rPr lang="zh-CN" altLang="en-US" sz="1400" dirty="0">
                <a:sym typeface="+mn-ea"/>
              </a:rPr>
              <a:t>。通过反馈电阻（</a:t>
            </a:r>
            <a:r>
              <a:rPr lang="en-US" altLang="zh-CN" sz="1400" dirty="0">
                <a:sym typeface="+mn-ea"/>
              </a:rPr>
              <a:t>100kΩ + 13.3kΩ</a:t>
            </a:r>
            <a:r>
              <a:rPr lang="zh-CN" altLang="en-US" sz="1400" dirty="0">
                <a:sym typeface="+mn-ea"/>
              </a:rPr>
              <a:t>）设定输出电压，配合</a:t>
            </a:r>
            <a:r>
              <a:rPr lang="en-US" altLang="zh-CN" sz="1400" dirty="0">
                <a:sym typeface="+mn-ea"/>
              </a:rPr>
              <a:t>15μH</a:t>
            </a:r>
            <a:r>
              <a:rPr lang="zh-CN" altLang="en-US" sz="1400" dirty="0">
                <a:sym typeface="+mn-ea"/>
              </a:rPr>
              <a:t>电感和</a:t>
            </a:r>
            <a:r>
              <a:rPr lang="en-US" altLang="zh-CN" sz="1400" dirty="0">
                <a:sym typeface="+mn-ea"/>
              </a:rPr>
              <a:t>500kHz</a:t>
            </a:r>
            <a:r>
              <a:rPr lang="zh-CN" altLang="en-US" sz="1400" dirty="0">
                <a:sym typeface="+mn-ea"/>
              </a:rPr>
              <a:t>开关频率实现高效转换。</a:t>
            </a:r>
            <a:endParaRPr lang="zh-CN" altLang="en-US" sz="1400" dirty="0"/>
          </a:p>
          <a:p>
            <a:pPr marL="0" indent="0">
              <a:buNone/>
            </a:pPr>
            <a:r>
              <a:rPr lang="en-US" altLang="zh-CN" sz="1400" b="1" dirty="0">
                <a:sym typeface="+mn-ea"/>
              </a:rPr>
              <a:t>3.</a:t>
            </a:r>
            <a:r>
              <a:rPr lang="zh-CN" altLang="en-US" sz="1400" b="1" dirty="0">
                <a:sym typeface="+mn-ea"/>
              </a:rPr>
              <a:t>输出处理与测量：</a:t>
            </a:r>
            <a:r>
              <a:rPr lang="zh-CN" altLang="en-US" sz="1400" dirty="0">
                <a:sym typeface="+mn-ea"/>
              </a:rPr>
              <a:t>输出端配置储能电容（</a:t>
            </a:r>
            <a:r>
              <a:rPr lang="en-US" altLang="zh-CN" sz="1400" dirty="0">
                <a:sym typeface="+mn-ea"/>
              </a:rPr>
              <a:t>220μF</a:t>
            </a:r>
            <a:r>
              <a:rPr lang="zh-CN" altLang="en-US" sz="1400" dirty="0">
                <a:sym typeface="+mn-ea"/>
              </a:rPr>
              <a:t>）和去耦电容（</a:t>
            </a:r>
            <a:r>
              <a:rPr lang="en-US" altLang="zh-CN" sz="1400" dirty="0">
                <a:sym typeface="+mn-ea"/>
              </a:rPr>
              <a:t>22μF</a:t>
            </a:r>
            <a:r>
              <a:rPr lang="zh-CN" altLang="en-US" sz="1400" dirty="0">
                <a:sym typeface="+mn-ea"/>
              </a:rPr>
              <a:t>、</a:t>
            </a:r>
            <a:r>
              <a:rPr lang="en-US" altLang="zh-CN" sz="1400" dirty="0">
                <a:sym typeface="+mn-ea"/>
              </a:rPr>
              <a:t>100nF</a:t>
            </a:r>
            <a:r>
              <a:rPr lang="zh-CN" altLang="en-US" sz="1400" dirty="0">
                <a:sym typeface="+mn-ea"/>
              </a:rPr>
              <a:t>），滤除纹波并提供瞬态响应。输出回路串联电流测量接口（跳线帽），方便断开后串接电流表测试空载</a:t>
            </a:r>
            <a:r>
              <a:rPr lang="en-US" altLang="zh-CN" sz="1400" dirty="0">
                <a:sym typeface="+mn-ea"/>
              </a:rPr>
              <a:t>/</a:t>
            </a:r>
            <a:r>
              <a:rPr lang="zh-CN" altLang="en-US" sz="1400" dirty="0">
                <a:sym typeface="+mn-ea"/>
              </a:rPr>
              <a:t>满载电流。电源指示灯（</a:t>
            </a:r>
            <a:r>
              <a:rPr lang="en-US" altLang="zh-CN" sz="1400" dirty="0">
                <a:sym typeface="+mn-ea"/>
              </a:rPr>
              <a:t>LED1</a:t>
            </a:r>
            <a:r>
              <a:rPr lang="zh-CN" altLang="en-US" sz="1400" dirty="0">
                <a:sym typeface="+mn-ea"/>
              </a:rPr>
              <a:t>）显示工作状态。</a:t>
            </a:r>
            <a:endParaRPr lang="en-US" altLang="zh-CN" sz="1400" b="1" dirty="0"/>
          </a:p>
          <a:p>
            <a:pPr marL="0" indent="0">
              <a:buNone/>
            </a:pPr>
            <a:r>
              <a:rPr lang="en-US" altLang="zh-CN" sz="1400" b="1" dirty="0">
                <a:sym typeface="+mn-ea"/>
              </a:rPr>
              <a:t>4.PCB</a:t>
            </a:r>
            <a:r>
              <a:rPr lang="zh-CN" altLang="en-US" sz="1400" b="1" dirty="0">
                <a:sym typeface="+mn-ea"/>
              </a:rPr>
              <a:t>布局优化：</a:t>
            </a:r>
            <a:r>
              <a:rPr lang="zh-CN" altLang="en-US" sz="1400" dirty="0">
                <a:sym typeface="+mn-ea"/>
              </a:rPr>
              <a:t>输入电容紧靠芯片引脚，</a:t>
            </a:r>
            <a:r>
              <a:rPr lang="en-US" altLang="zh-CN" sz="1400" dirty="0">
                <a:sym typeface="+mn-ea"/>
              </a:rPr>
              <a:t>SW</a:t>
            </a:r>
            <a:r>
              <a:rPr lang="zh-CN" altLang="en-US" sz="1400" dirty="0">
                <a:sym typeface="+mn-ea"/>
              </a:rPr>
              <a:t>节点与电感距离最短，反馈走线远离开关节点，地平面大面积覆铜，降低阻抗与噪声。</a:t>
            </a:r>
            <a:endParaRPr lang="en-US" altLang="zh-CN" sz="1400" dirty="0"/>
          </a:p>
          <a:p>
            <a:pPr marL="0" indent="0">
              <a:buNone/>
            </a:pPr>
            <a:r>
              <a:rPr lang="zh-CN" altLang="en-US" sz="1400" b="1" dirty="0"/>
              <a:t>二</a:t>
            </a:r>
            <a:r>
              <a:rPr lang="en-US" altLang="zh-CN" sz="1400" b="1" dirty="0"/>
              <a:t>.</a:t>
            </a:r>
            <a:r>
              <a:rPr lang="zh-CN" altLang="en-US" sz="1400" b="1" dirty="0">
                <a:sym typeface="+mn-ea"/>
              </a:rPr>
              <a:t>系统供电电源设计展示</a:t>
            </a:r>
            <a:endParaRPr lang="zh-CN" altLang="en-US" sz="1400" b="1" dirty="0"/>
          </a:p>
          <a:p>
            <a:pPr marL="0" indent="0">
              <a:buNone/>
            </a:pPr>
            <a:r>
              <a:rPr lang="zh-CN" altLang="en-US" sz="1400" dirty="0">
                <a:sym typeface="+mn-ea"/>
              </a:rPr>
              <a:t>原理图展示：</a:t>
            </a:r>
            <a:r>
              <a:rPr lang="en-US" altLang="zh-CN" sz="1400" dirty="0">
                <a:sym typeface="+mn-ea"/>
              </a:rPr>
              <a:t>                      </a:t>
            </a:r>
            <a:r>
              <a:rPr lang="en-US" altLang="zh-CN" sz="1780" dirty="0">
                <a:sym typeface="+mn-ea"/>
              </a:rPr>
              <a:t>                                                          </a:t>
            </a:r>
            <a:r>
              <a:rPr lang="en-US" altLang="zh-CN" sz="1400" dirty="0">
                <a:sym typeface="+mn-ea"/>
              </a:rPr>
              <a:t>PCB</a:t>
            </a:r>
            <a:r>
              <a:rPr lang="zh-CN" altLang="en-US" sz="1400" dirty="0">
                <a:sym typeface="+mn-ea"/>
              </a:rPr>
              <a:t>展示：</a:t>
            </a:r>
            <a:endParaRPr lang="zh-CN" altLang="en-US" sz="1400" dirty="0">
              <a:sym typeface="+mn-ea"/>
            </a:endParaRPr>
          </a:p>
          <a:p>
            <a:pPr marL="0" indent="0">
              <a:buNone/>
            </a:pPr>
            <a:endParaRPr lang="zh-CN" altLang="en-US" sz="1780" dirty="0"/>
          </a:p>
        </p:txBody>
      </p:sp>
      <p:pic>
        <p:nvPicPr>
          <p:cNvPr id="5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30" y="4289002"/>
            <a:ext cx="5215222" cy="23279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664" y="4289637"/>
            <a:ext cx="5215222" cy="232727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0" y="473869"/>
            <a:ext cx="8855507" cy="871592"/>
            <a:chOff x="0" y="567002"/>
            <a:chExt cx="8855507" cy="871592"/>
          </a:xfrm>
        </p:grpSpPr>
        <p:sp>
          <p:nvSpPr>
            <p:cNvPr id="9" name="圆角矩形 2"/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</a:rPr>
                <a:t>工业嵌入式系统开发调试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硬件系统设计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5425" y="457200"/>
            <a:ext cx="10617835" cy="69426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400" b="1" dirty="0"/>
              <a:t>二、</a:t>
            </a:r>
            <a:r>
              <a:rPr lang="en-US" altLang="zh-CN" sz="1400" b="1" dirty="0"/>
              <a:t>PT100</a:t>
            </a:r>
            <a:r>
              <a:rPr lang="zh-CN" altLang="en-US" sz="1400" b="1" dirty="0"/>
              <a:t>温度采样板总体设计思路</a:t>
            </a:r>
            <a:endParaRPr lang="zh-CN" altLang="en-US" sz="1400" b="1" dirty="0"/>
          </a:p>
          <a:p>
            <a:pPr marL="0" indent="0">
              <a:buNone/>
            </a:pPr>
            <a:r>
              <a:rPr lang="en-US" altLang="zh-CN" sz="1400" dirty="0">
                <a:ea typeface="+mn-lt"/>
                <a:cs typeface="+mn-lt"/>
              </a:rPr>
              <a:t>PT100</a:t>
            </a:r>
            <a:r>
              <a:rPr lang="zh-CN" altLang="en-US" sz="1400" dirty="0">
                <a:ea typeface="+mn-lt"/>
                <a:cs typeface="+mn-lt"/>
              </a:rPr>
              <a:t>采样板采用四线制开尔文连接与比率测量技术，实现高精度温度采集，核心思路如下：</a:t>
            </a:r>
            <a:endParaRPr lang="en-US" altLang="zh-CN" sz="1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zh-CN" sz="1400" b="1" dirty="0">
                <a:ea typeface="+mn-lt"/>
                <a:cs typeface="+mn-lt"/>
              </a:rPr>
              <a:t>1.</a:t>
            </a:r>
            <a:r>
              <a:rPr lang="zh-CN" altLang="en-US" sz="1400" b="1" dirty="0">
                <a:ea typeface="+mn-lt"/>
                <a:cs typeface="+mn-lt"/>
              </a:rPr>
              <a:t>精密恒流源激励：</a:t>
            </a:r>
            <a:r>
              <a:rPr lang="zh-CN" altLang="en-US" sz="1400" dirty="0">
                <a:ea typeface="+mn-lt"/>
                <a:cs typeface="+mn-lt"/>
              </a:rPr>
              <a:t>利用</a:t>
            </a:r>
            <a:r>
              <a:rPr lang="en-US" altLang="zh-CN" sz="1400" dirty="0">
                <a:ea typeface="+mn-lt"/>
                <a:cs typeface="+mn-lt"/>
              </a:rPr>
              <a:t> REF3040 </a:t>
            </a:r>
            <a:r>
              <a:rPr lang="zh-CN" altLang="en-US" sz="1400" dirty="0">
                <a:ea typeface="+mn-lt"/>
                <a:cs typeface="+mn-lt"/>
              </a:rPr>
              <a:t>提供</a:t>
            </a:r>
            <a:r>
              <a:rPr lang="en-US" altLang="zh-CN" sz="1400" dirty="0">
                <a:ea typeface="+mn-lt"/>
                <a:cs typeface="+mn-lt"/>
              </a:rPr>
              <a:t>4.096V</a:t>
            </a:r>
            <a:r>
              <a:rPr lang="zh-CN" altLang="en-US" sz="1400" dirty="0">
                <a:ea typeface="+mn-lt"/>
                <a:cs typeface="+mn-lt"/>
              </a:rPr>
              <a:t>基准电压，配合低失调运放</a:t>
            </a:r>
            <a:r>
              <a:rPr lang="en-US" altLang="zh-CN" sz="1400" dirty="0">
                <a:ea typeface="+mn-lt"/>
                <a:cs typeface="+mn-lt"/>
              </a:rPr>
              <a:t> TLV333 </a:t>
            </a:r>
            <a:r>
              <a:rPr lang="zh-CN" altLang="en-US" sz="1400" dirty="0">
                <a:ea typeface="+mn-lt"/>
                <a:cs typeface="+mn-lt"/>
              </a:rPr>
              <a:t>和</a:t>
            </a:r>
            <a:r>
              <a:rPr lang="en-US" altLang="zh-CN" sz="1400" dirty="0">
                <a:ea typeface="+mn-lt"/>
                <a:cs typeface="+mn-lt"/>
              </a:rPr>
              <a:t> NPN</a:t>
            </a:r>
            <a:r>
              <a:rPr lang="zh-CN" altLang="en-US" sz="1400" dirty="0">
                <a:ea typeface="+mn-lt"/>
                <a:cs typeface="+mn-lt"/>
              </a:rPr>
              <a:t>三极管</a:t>
            </a:r>
            <a:r>
              <a:rPr lang="en-US" altLang="zh-CN" sz="1400" dirty="0">
                <a:ea typeface="+mn-lt"/>
                <a:cs typeface="+mn-lt"/>
              </a:rPr>
              <a:t> 2N3904 </a:t>
            </a:r>
            <a:r>
              <a:rPr lang="zh-CN" altLang="en-US" sz="1400" dirty="0">
                <a:ea typeface="+mn-lt"/>
                <a:cs typeface="+mn-lt"/>
              </a:rPr>
              <a:t>构成</a:t>
            </a:r>
            <a:r>
              <a:rPr lang="en-US" altLang="zh-CN" sz="1400" dirty="0">
                <a:ea typeface="+mn-lt"/>
                <a:cs typeface="+mn-lt"/>
              </a:rPr>
              <a:t>1mA</a:t>
            </a:r>
            <a:r>
              <a:rPr lang="zh-CN" altLang="en-US" sz="1400" dirty="0">
                <a:ea typeface="+mn-lt"/>
                <a:cs typeface="+mn-lt"/>
              </a:rPr>
              <a:t>恒流源。恒流设定电阻（</a:t>
            </a:r>
            <a:r>
              <a:rPr lang="en-US" altLang="zh-CN" sz="1400" dirty="0">
                <a:ea typeface="+mn-lt"/>
                <a:cs typeface="+mn-lt"/>
              </a:rPr>
              <a:t>4.1kΩ</a:t>
            </a:r>
            <a:r>
              <a:rPr lang="zh-CN" altLang="en-US" sz="1400" dirty="0">
                <a:ea typeface="+mn-lt"/>
                <a:cs typeface="+mn-lt"/>
              </a:rPr>
              <a:t>，</a:t>
            </a:r>
            <a:r>
              <a:rPr lang="en-US" altLang="zh-CN" sz="1400" dirty="0">
                <a:ea typeface="+mn-lt"/>
                <a:cs typeface="+mn-lt"/>
              </a:rPr>
              <a:t>0.1%</a:t>
            </a:r>
            <a:r>
              <a:rPr lang="zh-CN" altLang="en-US" sz="1400" dirty="0">
                <a:ea typeface="+mn-lt"/>
                <a:cs typeface="+mn-lt"/>
              </a:rPr>
              <a:t>精度）确保电流稳定性，消除三极管</a:t>
            </a:r>
            <a:r>
              <a:rPr lang="en-US" altLang="zh-CN" sz="1400" dirty="0">
                <a:ea typeface="+mn-lt"/>
                <a:cs typeface="+mn-lt"/>
              </a:rPr>
              <a:t>VBE</a:t>
            </a:r>
            <a:r>
              <a:rPr lang="zh-CN" altLang="en-US" sz="1400" dirty="0">
                <a:ea typeface="+mn-lt"/>
                <a:cs typeface="+mn-lt"/>
              </a:rPr>
              <a:t>温度漂移影响。</a:t>
            </a:r>
            <a:endParaRPr lang="en-US" altLang="zh-CN" sz="1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zh-CN" sz="1400" b="1" dirty="0">
                <a:ea typeface="+mn-lt"/>
                <a:cs typeface="+mn-lt"/>
              </a:rPr>
              <a:t>2.</a:t>
            </a:r>
            <a:r>
              <a:rPr lang="zh-CN" altLang="en-US" sz="1400" b="1" dirty="0">
                <a:ea typeface="+mn-lt"/>
                <a:cs typeface="+mn-lt"/>
              </a:rPr>
              <a:t>信号放大与</a:t>
            </a:r>
            <a:r>
              <a:rPr lang="en-US" altLang="zh-CN" sz="1400" b="1" dirty="0">
                <a:ea typeface="+mn-lt"/>
                <a:cs typeface="+mn-lt"/>
              </a:rPr>
              <a:t>ADC</a:t>
            </a:r>
            <a:r>
              <a:rPr lang="zh-CN" altLang="en-US" sz="1400" b="1" dirty="0">
                <a:ea typeface="+mn-lt"/>
                <a:cs typeface="+mn-lt"/>
              </a:rPr>
              <a:t>量程匹配：</a:t>
            </a:r>
            <a:r>
              <a:rPr lang="zh-CN" altLang="en-US" sz="1400" dirty="0">
                <a:ea typeface="+mn-lt"/>
                <a:cs typeface="+mn-lt"/>
              </a:rPr>
              <a:t>仪表放大器</a:t>
            </a:r>
            <a:r>
              <a:rPr lang="en-US" altLang="zh-CN" sz="1400" dirty="0">
                <a:ea typeface="+mn-lt"/>
                <a:cs typeface="+mn-lt"/>
              </a:rPr>
              <a:t> INA333 </a:t>
            </a:r>
            <a:r>
              <a:rPr lang="zh-CN" altLang="en-US" sz="1400" dirty="0">
                <a:ea typeface="+mn-lt"/>
                <a:cs typeface="+mn-lt"/>
              </a:rPr>
              <a:t>对</a:t>
            </a:r>
            <a:r>
              <a:rPr lang="en-US" altLang="zh-CN" sz="1400" dirty="0">
                <a:ea typeface="+mn-lt"/>
                <a:cs typeface="+mn-lt"/>
              </a:rPr>
              <a:t>PT100</a:t>
            </a:r>
            <a:r>
              <a:rPr lang="zh-CN" altLang="en-US" sz="1400" dirty="0">
                <a:ea typeface="+mn-lt"/>
                <a:cs typeface="+mn-lt"/>
              </a:rPr>
              <a:t>两端微弱电压（</a:t>
            </a:r>
            <a:r>
              <a:rPr lang="en-US" altLang="zh-CN" sz="1400" dirty="0">
                <a:ea typeface="+mn-lt"/>
                <a:cs typeface="+mn-lt"/>
              </a:rPr>
              <a:t>100mV~138.5mV</a:t>
            </a:r>
            <a:r>
              <a:rPr lang="zh-CN" altLang="en-US" sz="1400" dirty="0">
                <a:ea typeface="+mn-lt"/>
                <a:cs typeface="+mn-lt"/>
              </a:rPr>
              <a:t>）进行</a:t>
            </a:r>
            <a:r>
              <a:rPr lang="en-US" altLang="zh-CN" sz="1400" dirty="0">
                <a:ea typeface="+mn-lt"/>
                <a:cs typeface="+mn-lt"/>
              </a:rPr>
              <a:t>26</a:t>
            </a:r>
            <a:r>
              <a:rPr lang="zh-CN" altLang="en-US" sz="1400" dirty="0">
                <a:ea typeface="+mn-lt"/>
                <a:cs typeface="+mn-lt"/>
              </a:rPr>
              <a:t>倍增益放大，输出范围（</a:t>
            </a:r>
            <a:r>
              <a:rPr lang="en-US" altLang="zh-CN" sz="1400" dirty="0">
                <a:ea typeface="+mn-lt"/>
                <a:cs typeface="+mn-lt"/>
              </a:rPr>
              <a:t>2.6V~3.6V</a:t>
            </a:r>
            <a:r>
              <a:rPr lang="zh-CN" altLang="en-US" sz="1400" dirty="0">
                <a:ea typeface="+mn-lt"/>
                <a:cs typeface="+mn-lt"/>
              </a:rPr>
              <a:t>）匹配</a:t>
            </a:r>
            <a:r>
              <a:rPr lang="en-US" altLang="zh-CN" sz="1400" dirty="0">
                <a:ea typeface="+mn-lt"/>
                <a:cs typeface="+mn-lt"/>
              </a:rPr>
              <a:t>24</a:t>
            </a:r>
            <a:r>
              <a:rPr lang="zh-CN" altLang="en-US" sz="1400" dirty="0">
                <a:ea typeface="+mn-lt"/>
                <a:cs typeface="+mn-lt"/>
              </a:rPr>
              <a:t>位</a:t>
            </a:r>
            <a:r>
              <a:rPr lang="en-US" altLang="zh-CN" sz="1400" dirty="0">
                <a:ea typeface="+mn-lt"/>
                <a:cs typeface="+mn-lt"/>
              </a:rPr>
              <a:t>ADC</a:t>
            </a:r>
            <a:r>
              <a:rPr lang="zh-CN" altLang="en-US" sz="1400" dirty="0">
                <a:ea typeface="+mn-lt"/>
                <a:cs typeface="+mn-lt"/>
              </a:rPr>
              <a:t>（</a:t>
            </a:r>
            <a:r>
              <a:rPr lang="en-US" altLang="zh-CN" sz="1400" dirty="0">
                <a:ea typeface="+mn-lt"/>
                <a:cs typeface="+mn-lt"/>
              </a:rPr>
              <a:t>GD30AD3344</a:t>
            </a:r>
            <a:r>
              <a:rPr lang="zh-CN" altLang="en-US" sz="1400" dirty="0">
                <a:ea typeface="+mn-lt"/>
                <a:cs typeface="+mn-lt"/>
              </a:rPr>
              <a:t>）的</a:t>
            </a:r>
            <a:r>
              <a:rPr lang="en-US" altLang="zh-CN" sz="1400" dirty="0">
                <a:ea typeface="+mn-lt"/>
                <a:cs typeface="+mn-lt"/>
              </a:rPr>
              <a:t>4.096V</a:t>
            </a:r>
            <a:r>
              <a:rPr lang="zh-CN" altLang="en-US" sz="1400" dirty="0">
                <a:ea typeface="+mn-lt"/>
                <a:cs typeface="+mn-lt"/>
              </a:rPr>
              <a:t>满量程。增益电阻（</a:t>
            </a:r>
            <a:r>
              <a:rPr lang="en-US" altLang="zh-CN" sz="1400" dirty="0">
                <a:ea typeface="+mn-lt"/>
                <a:cs typeface="+mn-lt"/>
              </a:rPr>
              <a:t>4kΩ</a:t>
            </a:r>
            <a:r>
              <a:rPr lang="zh-CN" altLang="en-US" sz="1400" dirty="0">
                <a:ea typeface="+mn-lt"/>
                <a:cs typeface="+mn-lt"/>
              </a:rPr>
              <a:t>，</a:t>
            </a:r>
            <a:r>
              <a:rPr lang="en-US" altLang="zh-CN" sz="1400" dirty="0">
                <a:ea typeface="+mn-lt"/>
                <a:cs typeface="+mn-lt"/>
              </a:rPr>
              <a:t>0.1%</a:t>
            </a:r>
            <a:r>
              <a:rPr lang="zh-CN" altLang="en-US" sz="1400" dirty="0">
                <a:ea typeface="+mn-lt"/>
                <a:cs typeface="+mn-lt"/>
              </a:rPr>
              <a:t>）紧贴</a:t>
            </a:r>
            <a:r>
              <a:rPr lang="en-US" altLang="zh-CN" sz="1400" dirty="0">
                <a:ea typeface="+mn-lt"/>
                <a:cs typeface="+mn-lt"/>
              </a:rPr>
              <a:t>INA333</a:t>
            </a:r>
            <a:r>
              <a:rPr lang="zh-CN" altLang="en-US" sz="1400" dirty="0">
                <a:ea typeface="+mn-lt"/>
                <a:cs typeface="+mn-lt"/>
              </a:rPr>
              <a:t>放置，保证增益精度。</a:t>
            </a:r>
            <a:endParaRPr lang="en-US" altLang="zh-CN" sz="1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zh-CN" sz="1400" b="1" dirty="0">
                <a:ea typeface="+mn-lt"/>
                <a:cs typeface="+mn-lt"/>
              </a:rPr>
              <a:t>3.</a:t>
            </a:r>
            <a:r>
              <a:rPr lang="zh-CN" altLang="en-US" sz="1400" b="1" dirty="0">
                <a:ea typeface="+mn-lt"/>
                <a:cs typeface="+mn-lt"/>
              </a:rPr>
              <a:t>滤波与抗干扰：</a:t>
            </a:r>
            <a:r>
              <a:rPr lang="zh-CN" altLang="en-US" sz="1400" dirty="0">
                <a:ea typeface="+mn-lt"/>
                <a:cs typeface="+mn-lt"/>
              </a:rPr>
              <a:t>输入差分滤波（</a:t>
            </a:r>
            <a:r>
              <a:rPr lang="en-US" altLang="zh-CN" sz="1400" dirty="0">
                <a:ea typeface="+mn-lt"/>
                <a:cs typeface="+mn-lt"/>
              </a:rPr>
              <a:t>100Ω+100nF</a:t>
            </a:r>
            <a:r>
              <a:rPr lang="zh-CN" altLang="en-US" sz="1400" dirty="0">
                <a:ea typeface="+mn-lt"/>
                <a:cs typeface="+mn-lt"/>
              </a:rPr>
              <a:t>）抑制共模</a:t>
            </a:r>
            <a:r>
              <a:rPr lang="en-US" altLang="zh-CN" sz="1400" dirty="0">
                <a:ea typeface="+mn-lt"/>
                <a:cs typeface="+mn-lt"/>
              </a:rPr>
              <a:t>/</a:t>
            </a:r>
            <a:r>
              <a:rPr lang="zh-CN" altLang="en-US" sz="1400" dirty="0">
                <a:ea typeface="+mn-lt"/>
                <a:cs typeface="+mn-lt"/>
              </a:rPr>
              <a:t>差模噪声，输出</a:t>
            </a:r>
            <a:r>
              <a:rPr lang="en-US" altLang="zh-CN" sz="1400" dirty="0">
                <a:ea typeface="+mn-lt"/>
                <a:cs typeface="+mn-lt"/>
              </a:rPr>
              <a:t>RC</a:t>
            </a:r>
            <a:r>
              <a:rPr lang="zh-CN" altLang="en-US" sz="1400" dirty="0">
                <a:ea typeface="+mn-lt"/>
                <a:cs typeface="+mn-lt"/>
              </a:rPr>
              <a:t>滤波（</a:t>
            </a:r>
            <a:r>
              <a:rPr lang="en-US" altLang="zh-CN" sz="1400" dirty="0">
                <a:ea typeface="+mn-lt"/>
                <a:cs typeface="+mn-lt"/>
              </a:rPr>
              <a:t>100Ω+100nF</a:t>
            </a:r>
            <a:r>
              <a:rPr lang="zh-CN" altLang="en-US" sz="1400" dirty="0">
                <a:ea typeface="+mn-lt"/>
                <a:cs typeface="+mn-lt"/>
              </a:rPr>
              <a:t>，截止频率</a:t>
            </a:r>
            <a:r>
              <a:rPr lang="en-US" altLang="zh-CN" sz="1400" dirty="0">
                <a:ea typeface="+mn-lt"/>
                <a:cs typeface="+mn-lt"/>
              </a:rPr>
              <a:t>15.9kHz</a:t>
            </a:r>
            <a:r>
              <a:rPr lang="zh-CN" altLang="en-US" sz="1400" dirty="0">
                <a:ea typeface="+mn-lt"/>
                <a:cs typeface="+mn-lt"/>
              </a:rPr>
              <a:t>）防止混叠。</a:t>
            </a:r>
            <a:endParaRPr lang="en-US" altLang="zh-CN" sz="1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zh-CN" sz="1400" dirty="0">
                <a:ea typeface="+mn-lt"/>
                <a:cs typeface="+mn-lt"/>
              </a:rPr>
              <a:t>ADC</a:t>
            </a:r>
            <a:r>
              <a:rPr lang="zh-CN" altLang="en-US" sz="1400" dirty="0">
                <a:ea typeface="+mn-lt"/>
                <a:cs typeface="+mn-lt"/>
              </a:rPr>
              <a:t>基准电压由</a:t>
            </a:r>
            <a:r>
              <a:rPr lang="en-US" altLang="zh-CN" sz="1400" dirty="0">
                <a:ea typeface="+mn-lt"/>
                <a:cs typeface="+mn-lt"/>
              </a:rPr>
              <a:t>REF3040</a:t>
            </a:r>
            <a:r>
              <a:rPr lang="zh-CN" altLang="en-US" sz="1400" dirty="0">
                <a:ea typeface="+mn-lt"/>
                <a:cs typeface="+mn-lt"/>
              </a:rPr>
              <a:t>独立提供，走线加粗隔离，并配置双重去耦电容（</a:t>
            </a:r>
            <a:r>
              <a:rPr lang="en-US" altLang="zh-CN" sz="1400" dirty="0">
                <a:ea typeface="+mn-lt"/>
                <a:cs typeface="+mn-lt"/>
              </a:rPr>
              <a:t>10μF+100nF</a:t>
            </a:r>
            <a:r>
              <a:rPr lang="zh-CN" altLang="en-US" sz="1400" dirty="0">
                <a:ea typeface="+mn-lt"/>
                <a:cs typeface="+mn-lt"/>
              </a:rPr>
              <a:t>）。</a:t>
            </a:r>
            <a:endParaRPr lang="en-US" altLang="zh-CN" sz="1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zh-CN" sz="1400" b="1" dirty="0">
                <a:ea typeface="+mn-lt"/>
                <a:cs typeface="+mn-lt"/>
              </a:rPr>
              <a:t>4.</a:t>
            </a:r>
            <a:r>
              <a:rPr lang="zh-CN" altLang="en-US" sz="1400" b="1" dirty="0">
                <a:ea typeface="+mn-lt"/>
                <a:cs typeface="+mn-lt"/>
              </a:rPr>
              <a:t>四线制开尔文连接：</a:t>
            </a:r>
            <a:r>
              <a:rPr lang="zh-CN" altLang="en-US" sz="1400" dirty="0">
                <a:ea typeface="+mn-lt"/>
                <a:cs typeface="+mn-lt"/>
              </a:rPr>
              <a:t>激励线（</a:t>
            </a:r>
            <a:r>
              <a:rPr lang="en-US" altLang="zh-CN" sz="1400" dirty="0">
                <a:ea typeface="+mn-lt"/>
                <a:cs typeface="+mn-lt"/>
              </a:rPr>
              <a:t>WHITE</a:t>
            </a:r>
            <a:r>
              <a:rPr lang="zh-CN" altLang="en-US" sz="1400" dirty="0">
                <a:ea typeface="+mn-lt"/>
                <a:cs typeface="+mn-lt"/>
              </a:rPr>
              <a:t>、</a:t>
            </a:r>
            <a:r>
              <a:rPr lang="en-US" altLang="zh-CN" sz="1400" dirty="0">
                <a:ea typeface="+mn-lt"/>
                <a:cs typeface="+mn-lt"/>
              </a:rPr>
              <a:t>RED_COM</a:t>
            </a:r>
            <a:r>
              <a:rPr lang="zh-CN" altLang="en-US" sz="1400" dirty="0">
                <a:ea typeface="+mn-lt"/>
                <a:cs typeface="+mn-lt"/>
              </a:rPr>
              <a:t>）与检测线（</a:t>
            </a:r>
            <a:r>
              <a:rPr lang="en-US" altLang="zh-CN" sz="1400" dirty="0">
                <a:ea typeface="+mn-lt"/>
                <a:cs typeface="+mn-lt"/>
              </a:rPr>
              <a:t>RED1</a:t>
            </a:r>
            <a:r>
              <a:rPr lang="zh-CN" altLang="en-US" sz="1400" dirty="0">
                <a:ea typeface="+mn-lt"/>
                <a:cs typeface="+mn-lt"/>
              </a:rPr>
              <a:t>、</a:t>
            </a:r>
            <a:r>
              <a:rPr lang="en-US" altLang="zh-CN" sz="1400" dirty="0">
                <a:ea typeface="+mn-lt"/>
                <a:cs typeface="+mn-lt"/>
              </a:rPr>
              <a:t>RED2</a:t>
            </a:r>
            <a:r>
              <a:rPr lang="zh-CN" altLang="en-US" sz="1400" dirty="0">
                <a:ea typeface="+mn-lt"/>
                <a:cs typeface="+mn-lt"/>
              </a:rPr>
              <a:t>）独立走线，彻底消除引线电阻和接触电阻误差。</a:t>
            </a:r>
            <a:endParaRPr lang="en-US" altLang="zh-CN" sz="1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zh-CN" sz="1400" b="1" dirty="0">
                <a:ea typeface="+mn-lt"/>
                <a:cs typeface="+mn-lt"/>
              </a:rPr>
              <a:t>5.PCB</a:t>
            </a:r>
            <a:r>
              <a:rPr lang="zh-CN" altLang="en-US" sz="1400" b="1" dirty="0">
                <a:ea typeface="+mn-lt"/>
                <a:cs typeface="+mn-lt"/>
              </a:rPr>
              <a:t>布局分区：</a:t>
            </a:r>
            <a:r>
              <a:rPr lang="zh-CN" altLang="en-US" sz="1400" dirty="0">
                <a:ea typeface="+mn-lt"/>
                <a:cs typeface="+mn-lt"/>
              </a:rPr>
              <a:t>模拟电路（恒流源、仪表放大器）与数字电路（</a:t>
            </a:r>
            <a:r>
              <a:rPr lang="en-US" altLang="zh-CN" sz="1400" dirty="0">
                <a:ea typeface="+mn-lt"/>
                <a:cs typeface="+mn-lt"/>
              </a:rPr>
              <a:t>SPI</a:t>
            </a:r>
            <a:r>
              <a:rPr lang="zh-CN" altLang="en-US" sz="1400" dirty="0">
                <a:ea typeface="+mn-lt"/>
                <a:cs typeface="+mn-lt"/>
              </a:rPr>
              <a:t>接口）物理隔离，统一单地平面，通过合理走线避免数字噪声耦合。</a:t>
            </a:r>
            <a:endParaRPr lang="zh-CN" altLang="en-US" sz="1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zh-CN" sz="1400" b="1" dirty="0">
                <a:sym typeface="+mn-ea"/>
              </a:rPr>
              <a:t>6.PT100</a:t>
            </a:r>
            <a:r>
              <a:rPr lang="zh-CN" altLang="en-US" sz="1400" b="1" dirty="0">
                <a:sym typeface="+mn-ea"/>
              </a:rPr>
              <a:t>温度采样板设计展示</a:t>
            </a:r>
            <a:endParaRPr lang="zh-CN" altLang="en-US" sz="1400" b="1" dirty="0">
              <a:sym typeface="+mn-ea"/>
            </a:endParaRPr>
          </a:p>
          <a:p>
            <a:pPr marL="0" indent="0">
              <a:buNone/>
            </a:pPr>
            <a:r>
              <a:rPr lang="zh-CN" altLang="en-US" sz="1400" dirty="0">
                <a:sym typeface="+mn-ea"/>
              </a:rPr>
              <a:t>原理图展示：</a:t>
            </a:r>
            <a:r>
              <a:rPr lang="en-US" altLang="zh-CN" sz="1400" dirty="0">
                <a:sym typeface="+mn-ea"/>
              </a:rPr>
              <a:t>                                                                                                 PCB</a:t>
            </a:r>
            <a:r>
              <a:rPr lang="zh-CN" altLang="en-US" sz="1400" dirty="0">
                <a:sym typeface="+mn-ea"/>
              </a:rPr>
              <a:t>展示：</a:t>
            </a:r>
            <a:endParaRPr lang="zh-CN" altLang="en-US" sz="1400" dirty="0">
              <a:sym typeface="+mn-ea"/>
            </a:endParaRPr>
          </a:p>
          <a:p>
            <a:endParaRPr lang="en-US" altLang="zh-CN" sz="1400" dirty="0">
              <a:ea typeface="+mn-lt"/>
              <a:cs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4300220"/>
            <a:ext cx="5713095" cy="22479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300220"/>
            <a:ext cx="5640705" cy="2279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372532"/>
            <a:ext cx="10900939" cy="69621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400" b="1" dirty="0"/>
              <a:t>三、模拟测试板总体设计思路</a:t>
            </a:r>
            <a:endParaRPr lang="zh-CN" altLang="en-US" sz="1400" dirty="0"/>
          </a:p>
          <a:p>
            <a:pPr marL="0" indent="0">
              <a:buNone/>
            </a:pPr>
            <a:r>
              <a:rPr lang="zh-CN" altLang="en-US" sz="1400" dirty="0"/>
              <a:t>模拟测试板用于替代</a:t>
            </a:r>
            <a:r>
              <a:rPr lang="en-US" altLang="zh-CN" sz="1400" dirty="0"/>
              <a:t>PT100</a:t>
            </a:r>
            <a:r>
              <a:rPr lang="zh-CN" altLang="en-US" sz="1400" dirty="0"/>
              <a:t>传感器，提供可切换的标准电阻以验证采样板精度，核心思路如下：</a:t>
            </a:r>
            <a:endParaRPr lang="zh-CN" altLang="en-US" sz="1400" dirty="0"/>
          </a:p>
          <a:p>
            <a:pPr marL="0" indent="0">
              <a:buNone/>
            </a:pPr>
            <a:r>
              <a:rPr lang="en-US" altLang="zh-CN" sz="1400" b="1" dirty="0">
                <a:ea typeface="+mn-lt"/>
                <a:cs typeface="+mn-lt"/>
              </a:rPr>
              <a:t>1.</a:t>
            </a:r>
            <a:r>
              <a:rPr lang="zh-CN" altLang="en-US" sz="1400" b="1" dirty="0">
                <a:ea typeface="+mn-lt"/>
                <a:cs typeface="+mn-lt"/>
              </a:rPr>
              <a:t>高精度电阻阵列：</a:t>
            </a:r>
            <a:r>
              <a:rPr lang="zh-CN" altLang="en-US" sz="1400" dirty="0"/>
              <a:t>选用</a:t>
            </a:r>
            <a:r>
              <a:rPr lang="en-US" altLang="zh-CN" sz="1400" dirty="0"/>
              <a:t> 0.1%</a:t>
            </a:r>
            <a:r>
              <a:rPr lang="zh-CN" altLang="en-US" sz="1400" dirty="0"/>
              <a:t>精度、低温漂（</a:t>
            </a:r>
            <a:r>
              <a:rPr lang="en-US" altLang="zh-CN" sz="1400" dirty="0"/>
              <a:t>25ppm/</a:t>
            </a:r>
            <a:r>
              <a:rPr lang="en-US" altLang="en-US" sz="1400" dirty="0"/>
              <a:t>℃</a:t>
            </a:r>
            <a:r>
              <a:rPr lang="zh-CN" altLang="en-US" sz="1400" dirty="0"/>
              <a:t>）</a:t>
            </a:r>
            <a:r>
              <a:rPr lang="en-US" altLang="zh-CN" sz="1400" dirty="0"/>
              <a:t> </a:t>
            </a:r>
            <a:r>
              <a:rPr lang="zh-CN" altLang="en-US" sz="1400" dirty="0"/>
              <a:t>贴片电阻，覆盖</a:t>
            </a:r>
            <a:r>
              <a:rPr lang="en-US" altLang="zh-CN" sz="1400" dirty="0"/>
              <a:t>-49.2</a:t>
            </a:r>
            <a:r>
              <a:rPr lang="en-US" altLang="en-US" sz="1400" dirty="0"/>
              <a:t>℃</a:t>
            </a:r>
            <a:r>
              <a:rPr lang="en-US" altLang="zh-CN" sz="1400" dirty="0"/>
              <a:t>~141.11</a:t>
            </a:r>
            <a:r>
              <a:rPr lang="en-US" altLang="en-US" sz="1400" dirty="0"/>
              <a:t>℃</a:t>
            </a:r>
            <a:r>
              <a:rPr lang="zh-CN" altLang="en-US" sz="1400" dirty="0"/>
              <a:t>对应的</a:t>
            </a:r>
            <a:r>
              <a:rPr lang="en-US" altLang="zh-CN" sz="1400" dirty="0"/>
              <a:t>PT100</a:t>
            </a:r>
            <a:r>
              <a:rPr lang="zh-CN" altLang="en-US" sz="1400" dirty="0"/>
              <a:t>阻值（如</a:t>
            </a:r>
            <a:r>
              <a:rPr lang="en-US" altLang="zh-CN" sz="1400" dirty="0"/>
              <a:t>100Ω/0</a:t>
            </a:r>
            <a:r>
              <a:rPr lang="en-US" altLang="en-US" sz="1400" dirty="0"/>
              <a:t>℃</a:t>
            </a:r>
            <a:r>
              <a:rPr lang="zh-CN" altLang="en-US" sz="1400" dirty="0"/>
              <a:t>、</a:t>
            </a:r>
            <a:r>
              <a:rPr lang="en-US" altLang="zh-CN" sz="1400" dirty="0"/>
              <a:t>115Ω/38.96</a:t>
            </a:r>
            <a:r>
              <a:rPr lang="en-US" altLang="en-US" sz="1400" dirty="0"/>
              <a:t>℃</a:t>
            </a:r>
            <a:r>
              <a:rPr lang="zh-CN" altLang="en-US" sz="1400" dirty="0"/>
              <a:t>等）。每个电阻对应一个模拟温度点，用于全温区线性度与增益验证。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b="1" dirty="0"/>
              <a:t>2.</a:t>
            </a:r>
            <a:r>
              <a:rPr lang="zh-CN" altLang="en-US" sz="1400" b="1" dirty="0"/>
              <a:t>切换机构设计：</a:t>
            </a:r>
            <a:r>
              <a:rPr lang="zh-CN" altLang="en-US" sz="1400" dirty="0"/>
              <a:t>通过跳线帽或拨动开关（</a:t>
            </a:r>
            <a:r>
              <a:rPr lang="en-US" altLang="zh-CN" sz="1400" dirty="0"/>
              <a:t>U1~U12</a:t>
            </a:r>
            <a:r>
              <a:rPr lang="zh-CN" altLang="en-US" sz="1400" dirty="0"/>
              <a:t>）手动选择接入回路的电阻，快速切换模拟不同温度。开关两侧标注</a:t>
            </a:r>
            <a:r>
              <a:rPr lang="en-US" altLang="zh-CN" sz="1400" dirty="0"/>
              <a:t>“LEFT/RIGHT”</a:t>
            </a:r>
            <a:r>
              <a:rPr lang="zh-CN" altLang="en-US" sz="1400" dirty="0"/>
              <a:t>及阻值</a:t>
            </a:r>
            <a:r>
              <a:rPr lang="en-US" altLang="zh-CN" sz="1400" dirty="0"/>
              <a:t>/</a:t>
            </a:r>
            <a:r>
              <a:rPr lang="zh-CN" altLang="en-US" sz="1400" dirty="0"/>
              <a:t>温度丝印，便于操作与读取。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b="1" dirty="0"/>
              <a:t>3.</a:t>
            </a:r>
            <a:r>
              <a:rPr lang="zh-CN" altLang="en-US" sz="1400" b="1" dirty="0"/>
              <a:t>四线制输出：</a:t>
            </a:r>
            <a:r>
              <a:rPr lang="zh-CN" altLang="en-US" sz="1400" dirty="0"/>
              <a:t>输出端子采用四线制开尔文连接：</a:t>
            </a:r>
            <a:r>
              <a:rPr lang="en-US" altLang="zh-CN" sz="1400" dirty="0"/>
              <a:t>WHITE</a:t>
            </a:r>
            <a:r>
              <a:rPr lang="zh-CN" altLang="en-US" sz="1400" dirty="0"/>
              <a:t>和</a:t>
            </a:r>
            <a:r>
              <a:rPr lang="en-US" altLang="zh-CN" sz="1400" dirty="0"/>
              <a:t>RED_COM</a:t>
            </a:r>
            <a:r>
              <a:rPr lang="zh-CN" altLang="en-US" sz="1400" dirty="0"/>
              <a:t>为激励线，</a:t>
            </a:r>
            <a:r>
              <a:rPr lang="en-US" altLang="zh-CN" sz="1400" dirty="0"/>
              <a:t>RED1</a:t>
            </a:r>
            <a:r>
              <a:rPr lang="zh-CN" altLang="en-US" sz="1400" dirty="0"/>
              <a:t>和</a:t>
            </a:r>
            <a:r>
              <a:rPr lang="en-US" altLang="zh-CN" sz="1400" dirty="0"/>
              <a:t>RED2</a:t>
            </a:r>
            <a:r>
              <a:rPr lang="zh-CN" altLang="en-US" sz="1400" dirty="0"/>
              <a:t>为电压检测线。</a:t>
            </a:r>
            <a:r>
              <a:rPr lang="en-US" altLang="zh-CN" sz="1400" dirty="0"/>
              <a:t>PCB</a:t>
            </a:r>
            <a:r>
              <a:rPr lang="zh-CN" altLang="en-US" sz="1400" dirty="0"/>
              <a:t>走线等长、平行，并布置地线隔离环，消除接触电阻与走线阻抗影响。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b="1" dirty="0"/>
              <a:t>4.</a:t>
            </a:r>
            <a:r>
              <a:rPr lang="zh-CN" altLang="en-US" sz="1400" b="1" dirty="0"/>
              <a:t>连接兼容性：</a:t>
            </a:r>
            <a:r>
              <a:rPr lang="zh-CN" altLang="en-US" sz="1400" dirty="0"/>
              <a:t>接口定义与</a:t>
            </a:r>
            <a:r>
              <a:rPr lang="en-US" altLang="zh-CN" sz="1400" dirty="0"/>
              <a:t>PT100</a:t>
            </a:r>
            <a:r>
              <a:rPr lang="zh-CN" altLang="en-US" sz="1400" dirty="0"/>
              <a:t>采样板完全匹配（</a:t>
            </a:r>
            <a:r>
              <a:rPr lang="en-US" altLang="zh-CN" sz="1400" dirty="0"/>
              <a:t>CN1</a:t>
            </a:r>
            <a:r>
              <a:rPr lang="zh-CN" altLang="en-US" sz="1400" dirty="0"/>
              <a:t>），确保即插即用。通过切换不同电阻，可快速验证采样板的恒流源、增益、</a:t>
            </a:r>
            <a:r>
              <a:rPr lang="en-US" altLang="zh-CN" sz="1400" dirty="0"/>
              <a:t>ADC</a:t>
            </a:r>
            <a:r>
              <a:rPr lang="zh-CN" altLang="en-US" sz="1400" dirty="0"/>
              <a:t>转换及软件算法的准确性。</a:t>
            </a:r>
            <a:endParaRPr lang="zh-CN" altLang="en-US" sz="1400" dirty="0"/>
          </a:p>
          <a:p>
            <a:pPr marL="0" indent="0">
              <a:buNone/>
            </a:pPr>
            <a:r>
              <a:rPr lang="zh-CN" altLang="en-US" sz="1400" b="1" dirty="0">
                <a:sym typeface="+mn-ea"/>
              </a:rPr>
              <a:t>三、模拟测试板设计展示</a:t>
            </a:r>
            <a:endParaRPr lang="zh-CN" altLang="en-US" sz="1400" dirty="0"/>
          </a:p>
          <a:p>
            <a:pPr marL="0" indent="0">
              <a:buNone/>
            </a:pPr>
            <a:r>
              <a:rPr lang="zh-CN" altLang="en-US" sz="1600" dirty="0">
                <a:sym typeface="+mn-ea"/>
              </a:rPr>
              <a:t>    原理图展示：</a:t>
            </a:r>
            <a:r>
              <a:rPr lang="en-US" altLang="zh-CN" sz="1600" dirty="0">
                <a:sym typeface="+mn-ea"/>
              </a:rPr>
              <a:t>                                                                                 PCB</a:t>
            </a:r>
            <a:r>
              <a:rPr lang="zh-CN" altLang="en-US" sz="1600" dirty="0">
                <a:sym typeface="+mn-ea"/>
              </a:rPr>
              <a:t>展示：</a:t>
            </a:r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241" y="3668819"/>
            <a:ext cx="4626610" cy="28848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133" y="3668819"/>
            <a:ext cx="4745355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51092" y="3123202"/>
            <a:ext cx="9489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zh-CN" altLang="en-US" sz="4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系统设计部分</a:t>
            </a:r>
            <a:endParaRPr lang="zh-CN" altLang="en-US" sz="40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/>
          <p:cNvGrpSpPr/>
          <p:nvPr/>
        </p:nvGrpSpPr>
        <p:grpSpPr>
          <a:xfrm>
            <a:off x="0" y="214320"/>
            <a:ext cx="8855507" cy="871592"/>
            <a:chOff x="0" y="567002"/>
            <a:chExt cx="8855507" cy="871592"/>
          </a:xfrm>
        </p:grpSpPr>
        <p:sp>
          <p:nvSpPr>
            <p:cNvPr id="202" name="圆角矩形 2"/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第一部分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工程任务分析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98966" y="1153645"/>
            <a:ext cx="11794067" cy="5268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一、核心模块功能分析</a:t>
            </a:r>
            <a:endParaRPr lang="en-US" altLang="zh-CN" sz="1600" b="1" dirty="0"/>
          </a:p>
          <a:p>
            <a:r>
              <a:rPr lang="en-US" altLang="zh-CN" sz="1600" b="1" dirty="0"/>
              <a:t>1</a:t>
            </a:r>
            <a:r>
              <a:rPr lang="zh-CN" altLang="en-US" sz="1600" b="1" dirty="0"/>
              <a:t>、系统初始化与基础配置</a:t>
            </a:r>
            <a:endParaRPr lang="en-US" altLang="zh-CN" sz="1600" b="1" dirty="0"/>
          </a:p>
          <a:p>
            <a:r>
              <a:rPr lang="zh-CN" altLang="en-US" sz="1600" dirty="0"/>
              <a:t>基础配置：支持设置 </a:t>
            </a:r>
            <a:r>
              <a:rPr lang="en-US" altLang="zh-CN" sz="1600" dirty="0"/>
              <a:t>UTC </a:t>
            </a:r>
            <a:r>
              <a:rPr lang="zh-CN" altLang="en-US" sz="1600" dirty="0"/>
              <a:t>时间；默认波特率必须为 </a:t>
            </a:r>
            <a:r>
              <a:rPr lang="en-US" altLang="zh-CN" sz="1600" dirty="0"/>
              <a:t>19200</a:t>
            </a:r>
            <a:r>
              <a:rPr lang="zh-CN" altLang="en-US" sz="1600" dirty="0"/>
              <a:t>，修改波特率及设备 </a:t>
            </a:r>
            <a:r>
              <a:rPr lang="en-US" altLang="zh-CN" sz="1600" dirty="0"/>
              <a:t>ID </a:t>
            </a:r>
            <a:r>
              <a:rPr lang="zh-CN" altLang="en-US" sz="1600" dirty="0"/>
              <a:t>后需持久化保存。</a:t>
            </a:r>
            <a:endParaRPr lang="en-US" altLang="zh-CN" sz="1600" dirty="0"/>
          </a:p>
          <a:p>
            <a:r>
              <a:rPr lang="en-US" altLang="zh-CN" sz="1600" b="1" dirty="0"/>
              <a:t>2</a:t>
            </a:r>
            <a:r>
              <a:rPr lang="zh-CN" altLang="en-US" sz="1600" b="1" dirty="0"/>
              <a:t>、硬件检测与状态</a:t>
            </a:r>
            <a:endParaRPr lang="en-US" altLang="zh-CN" sz="1600" b="1" dirty="0"/>
          </a:p>
          <a:p>
            <a:r>
              <a:rPr lang="zh-CN" altLang="en-US" sz="1600" dirty="0"/>
              <a:t>反馈屏幕显示：</a:t>
            </a:r>
            <a:r>
              <a:rPr lang="en-US" altLang="zh-CN" sz="1600" dirty="0"/>
              <a:t>OLED </a:t>
            </a:r>
            <a:r>
              <a:rPr lang="zh-CN" altLang="en-US" sz="1600" dirty="0"/>
              <a:t>双行文本，第一行固定为队伍编号，第二行随状态切换显示“</a:t>
            </a:r>
            <a:r>
              <a:rPr lang="en-US" altLang="zh-CN" sz="1600" dirty="0" err="1"/>
              <a:t>AutoSample</a:t>
            </a:r>
            <a:r>
              <a:rPr lang="en-US" altLang="zh-CN" sz="1600" dirty="0"/>
              <a:t>”</a:t>
            </a:r>
            <a:r>
              <a:rPr lang="zh-CN" altLang="en-US" sz="1600" dirty="0"/>
              <a:t>或“</a:t>
            </a:r>
            <a:r>
              <a:rPr lang="en-US" altLang="zh-CN" sz="1600" dirty="0"/>
              <a:t>IDLE”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zh-CN" altLang="en-US" sz="1600" dirty="0"/>
              <a:t>指示灯反馈：状态灯在运行期间每秒闪烁；采集灯仅在自动上报状态下常亮，其余时间熄灭。</a:t>
            </a:r>
            <a:endParaRPr lang="en-US" altLang="zh-CN" sz="1600" dirty="0"/>
          </a:p>
          <a:p>
            <a:r>
              <a:rPr lang="en-US" altLang="zh-CN" sz="1600" b="1" dirty="0"/>
              <a:t>3</a:t>
            </a:r>
            <a:r>
              <a:rPr lang="zh-CN" altLang="en-US" sz="1600" b="1" dirty="0"/>
              <a:t>、数据采集与参数管理</a:t>
            </a:r>
            <a:endParaRPr lang="en-US" altLang="zh-CN" sz="1600" b="1" dirty="0"/>
          </a:p>
          <a:p>
            <a:r>
              <a:rPr lang="zh-CN" altLang="en-US" sz="1600" dirty="0"/>
              <a:t>数据换算：采集 </a:t>
            </a:r>
            <a:r>
              <a:rPr lang="en-US" altLang="zh-CN" sz="1600" dirty="0"/>
              <a:t>CH0</a:t>
            </a:r>
            <a:r>
              <a:rPr lang="zh-CN" altLang="en-US" sz="1600" dirty="0"/>
              <a:t>、</a:t>
            </a:r>
            <a:r>
              <a:rPr lang="en-US" altLang="zh-CN" sz="1600" dirty="0"/>
              <a:t>CH1 </a:t>
            </a:r>
            <a:r>
              <a:rPr lang="zh-CN" altLang="en-US" sz="1600" dirty="0"/>
              <a:t>及 </a:t>
            </a:r>
            <a:r>
              <a:rPr lang="en-US" altLang="zh-CN" sz="1600" dirty="0"/>
              <a:t>CH2</a:t>
            </a:r>
            <a:r>
              <a:rPr lang="zh-CN" altLang="en-US" sz="1600" dirty="0"/>
              <a:t>（</a:t>
            </a:r>
            <a:r>
              <a:rPr lang="en-US" altLang="zh-CN" sz="1600" dirty="0"/>
              <a:t>PT100</a:t>
            </a:r>
            <a:r>
              <a:rPr lang="zh-CN" altLang="en-US" sz="1600" dirty="0"/>
              <a:t>）通道，必须返回“原始采样值 </a:t>
            </a:r>
            <a:r>
              <a:rPr lang="en-US" altLang="zh-CN" sz="1600" dirty="0"/>
              <a:t>× </a:t>
            </a:r>
            <a:r>
              <a:rPr lang="zh-CN" altLang="en-US" sz="1600" dirty="0"/>
              <a:t>变比”的换算结果。</a:t>
            </a:r>
            <a:endParaRPr lang="en-US" altLang="zh-CN" sz="1600" dirty="0"/>
          </a:p>
          <a:p>
            <a:r>
              <a:rPr lang="zh-CN" altLang="en-US" sz="1600" dirty="0"/>
              <a:t>模式控制：支持单次查询与定时自动上报，且自动上报期间必须屏蔽其他普通控制指令。</a:t>
            </a:r>
            <a:endParaRPr lang="en-US" altLang="zh-CN" sz="1600" dirty="0"/>
          </a:p>
          <a:p>
            <a:r>
              <a:rPr lang="zh-CN" altLang="en-US" sz="1600" dirty="0"/>
              <a:t>参数持久化：通道变比、阈值等核心参数需存入 </a:t>
            </a:r>
            <a:r>
              <a:rPr lang="en-US" altLang="zh-CN" sz="1600" dirty="0"/>
              <a:t>Flash</a:t>
            </a:r>
            <a:r>
              <a:rPr lang="zh-CN" altLang="en-US" sz="1600" dirty="0"/>
              <a:t>，确保掉电不丢失。</a:t>
            </a:r>
            <a:endParaRPr lang="en-US" altLang="zh-CN" sz="1600" dirty="0"/>
          </a:p>
          <a:p>
            <a:r>
              <a:rPr lang="en-US" altLang="zh-CN" sz="1600" b="1" dirty="0"/>
              <a:t>4</a:t>
            </a:r>
            <a:r>
              <a:rPr lang="zh-CN" altLang="en-US" sz="1600" b="1" dirty="0"/>
              <a:t>、异常处理与安全机制</a:t>
            </a:r>
            <a:endParaRPr lang="en-US" altLang="zh-CN" sz="1600" b="1" dirty="0"/>
          </a:p>
          <a:p>
            <a:r>
              <a:rPr lang="zh-CN" altLang="en-US" sz="1600" dirty="0"/>
              <a:t>告警记录：超限告警支持主动上报或 </a:t>
            </a:r>
            <a:r>
              <a:rPr lang="en-US" altLang="zh-CN" sz="1600" dirty="0"/>
              <a:t>Flash </a:t>
            </a:r>
            <a:r>
              <a:rPr lang="zh-CN" altLang="en-US" sz="1600" dirty="0"/>
              <a:t>静默存储，系统需保留最近 </a:t>
            </a:r>
            <a:r>
              <a:rPr lang="en-US" altLang="zh-CN" sz="1600" dirty="0"/>
              <a:t>10 </a:t>
            </a:r>
            <a:r>
              <a:rPr lang="zh-CN" altLang="en-US" sz="1600" dirty="0"/>
              <a:t>次记录供查询。</a:t>
            </a:r>
            <a:endParaRPr lang="en-US" altLang="zh-CN" sz="1600" dirty="0"/>
          </a:p>
          <a:p>
            <a:r>
              <a:rPr lang="zh-CN" altLang="en-US" sz="1600" dirty="0"/>
              <a:t>通信异常拦截：底层需执行 </a:t>
            </a:r>
            <a:r>
              <a:rPr lang="en-US" altLang="zh-CN" sz="1600" dirty="0"/>
              <a:t>CRC-16 </a:t>
            </a:r>
            <a:r>
              <a:rPr lang="zh-CN" altLang="en-US" sz="1600" dirty="0"/>
              <a:t>校验与报文长度检查，遇到错误帧直接丢弃并回复 </a:t>
            </a:r>
            <a:r>
              <a:rPr lang="en-US" altLang="zh-CN" sz="1600" dirty="0"/>
              <a:t>ERROR </a:t>
            </a:r>
            <a:r>
              <a:rPr lang="zh-CN" altLang="en-US" sz="1600" dirty="0"/>
              <a:t>指令。</a:t>
            </a:r>
            <a:endParaRPr lang="en-US" altLang="zh-CN" sz="1600" dirty="0"/>
          </a:p>
          <a:p>
            <a:r>
              <a:rPr lang="en-US" altLang="zh-CN" sz="1600" b="1" dirty="0"/>
              <a:t>5</a:t>
            </a:r>
            <a:r>
              <a:rPr lang="zh-CN" altLang="en-US" sz="1600" b="1" dirty="0"/>
              <a:t>、 低功耗管理休眠唤醒</a:t>
            </a:r>
            <a:r>
              <a:rPr lang="zh-CN" altLang="en-US" sz="1600" dirty="0"/>
              <a:t>：接收指令后进入深度睡眠，</a:t>
            </a:r>
            <a:r>
              <a:rPr lang="en-US" altLang="zh-CN" sz="1600" dirty="0"/>
              <a:t>10 </a:t>
            </a:r>
            <a:r>
              <a:rPr lang="zh-CN" altLang="en-US" sz="1600" dirty="0"/>
              <a:t>秒后通过 </a:t>
            </a:r>
            <a:r>
              <a:rPr lang="en-US" altLang="zh-CN" sz="1600" dirty="0"/>
              <a:t>RTC </a:t>
            </a:r>
            <a:r>
              <a:rPr lang="zh-CN" altLang="en-US" sz="1600" dirty="0"/>
              <a:t>闹钟自动唤醒，并直接回复预设的 </a:t>
            </a:r>
            <a:r>
              <a:rPr lang="en-US" altLang="zh-CN" sz="1600" dirty="0"/>
              <a:t>ASCII </a:t>
            </a:r>
            <a:r>
              <a:rPr lang="zh-CN" altLang="en-US" sz="1600" dirty="0"/>
              <a:t>字符串</a:t>
            </a:r>
            <a:r>
              <a:rPr lang="zh-CN" altLang="en-US" sz="1400" dirty="0"/>
              <a:t>。</a:t>
            </a:r>
            <a:endParaRPr lang="zh-CN" altLang="en-US" sz="1200" dirty="0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 flipH="1">
            <a:off x="364066" y="797510"/>
            <a:ext cx="1146386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二、 核心模块与技术任务拆解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b="1" dirty="0"/>
              <a:t>屏幕与状态显示功能：</a:t>
            </a:r>
            <a:endParaRPr lang="en-US" altLang="zh-CN" b="1" dirty="0"/>
          </a:p>
          <a:p>
            <a:r>
              <a:rPr lang="en-US" altLang="zh-CN" dirty="0"/>
              <a:t>     OLED</a:t>
            </a:r>
            <a:r>
              <a:rPr lang="zh-CN" altLang="en-US" dirty="0"/>
              <a:t>双行常显 ；首行定队伍编号 ，次行依状态显“</a:t>
            </a:r>
            <a:r>
              <a:rPr lang="en-US" altLang="zh-CN" dirty="0" err="1"/>
              <a:t>AutoSample</a:t>
            </a:r>
            <a:r>
              <a:rPr lang="en-US" altLang="zh-CN" dirty="0"/>
              <a:t>”</a:t>
            </a:r>
            <a:r>
              <a:rPr lang="zh-CN" altLang="en-US" dirty="0"/>
              <a:t>或“</a:t>
            </a:r>
            <a:r>
              <a:rPr lang="en-US" altLang="zh-CN" dirty="0"/>
              <a:t>IDLE” </a:t>
            </a:r>
            <a:r>
              <a:rPr lang="zh-CN" altLang="en-US" dirty="0"/>
              <a:t>。  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en-US" dirty="0"/>
              <a:t>技术：利用显存映射防闪屏；将上报标志位与屏幕局部刷新逻辑强绑定。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en-US" dirty="0"/>
              <a:t>测试：高频下发启停指令，验证屏幕状态无延迟、精准切换。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b="1" dirty="0"/>
              <a:t>数据采集与通信协议</a:t>
            </a:r>
            <a:endParaRPr lang="en-US" altLang="zh-CN" b="1" dirty="0"/>
          </a:p>
          <a:p>
            <a:r>
              <a:rPr lang="zh-CN" altLang="en-US" b="1" dirty="0"/>
              <a:t>     </a:t>
            </a:r>
            <a:r>
              <a:rPr lang="zh-CN" altLang="en-US" dirty="0"/>
              <a:t>功能：采集三通道（</a:t>
            </a:r>
            <a:r>
              <a:rPr lang="en-US" altLang="zh-CN" dirty="0"/>
              <a:t>CH0/CH1/PT100;</a:t>
            </a:r>
            <a:r>
              <a:rPr lang="zh-CN" altLang="en-US" dirty="0"/>
              <a:t>报文纯</a:t>
            </a:r>
            <a:r>
              <a:rPr lang="en-US" altLang="zh-CN" dirty="0"/>
              <a:t>ASCII</a:t>
            </a:r>
            <a:r>
              <a:rPr lang="zh-CN" altLang="en-US" dirty="0"/>
              <a:t>字符串收发 ；异常帧（</a:t>
            </a:r>
            <a:r>
              <a:rPr lang="en-US" altLang="zh-CN" dirty="0"/>
              <a:t>CRC/</a:t>
            </a:r>
            <a:r>
              <a:rPr lang="zh-CN" altLang="en-US" dirty="0"/>
              <a:t>长度</a:t>
            </a:r>
            <a:r>
              <a:rPr lang="en-US" altLang="zh-CN" dirty="0"/>
              <a:t>/</a:t>
            </a:r>
            <a:r>
              <a:rPr lang="zh-CN" altLang="en-US" dirty="0"/>
              <a:t>类型错误）抛弃并回错 。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   技术：采样值乘变比 ，转大端</a:t>
            </a:r>
            <a:r>
              <a:rPr lang="en-US" altLang="zh-CN" dirty="0"/>
              <a:t>IEEE754</a:t>
            </a:r>
            <a:r>
              <a:rPr lang="zh-CN" altLang="en-US" dirty="0"/>
              <a:t>浮点数组帧 ；底层跑通</a:t>
            </a:r>
            <a:r>
              <a:rPr lang="en-US" altLang="zh-CN" dirty="0"/>
              <a:t>CRC-16-Modbus</a:t>
            </a:r>
            <a:r>
              <a:rPr lang="zh-CN" altLang="en-US" dirty="0"/>
              <a:t>算法 。  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en-US" dirty="0"/>
              <a:t>测试：自动上报期间，强制屏蔽除“停止”外的所有普通控制指令 。  </a:t>
            </a:r>
            <a:endParaRPr lang="en-US" altLang="zh-CN" dirty="0"/>
          </a:p>
          <a:p>
            <a:r>
              <a:rPr lang="zh-CN" altLang="en-US" b="1" dirty="0"/>
              <a:t>三、 测试重点总结</a:t>
            </a:r>
            <a:endParaRPr lang="en-US" altLang="zh-CN" b="1" dirty="0"/>
          </a:p>
          <a:p>
            <a:r>
              <a:rPr lang="en-US" altLang="zh-CN" dirty="0"/>
              <a:t>     </a:t>
            </a:r>
            <a:r>
              <a:rPr lang="zh-CN" altLang="en-US" dirty="0"/>
              <a:t>功能完整性：指令应答严吻帧规约；系统运行模式与外设反馈（</a:t>
            </a:r>
            <a:r>
              <a:rPr lang="en-US" altLang="zh-CN" dirty="0"/>
              <a:t>OLED</a:t>
            </a:r>
            <a:r>
              <a:rPr lang="zh-CN" altLang="en-US" dirty="0"/>
              <a:t>字样</a:t>
            </a:r>
            <a:r>
              <a:rPr lang="en-US" altLang="zh-CN" dirty="0"/>
              <a:t>/LED</a:t>
            </a:r>
            <a:r>
              <a:rPr lang="zh-CN" altLang="en-US" dirty="0"/>
              <a:t>动作）必须强联动 。  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en-US" dirty="0"/>
              <a:t>数据准确性：重点校验变比换算 、大端浮点转换 、</a:t>
            </a:r>
            <a:r>
              <a:rPr lang="en-US" altLang="zh-CN" dirty="0"/>
              <a:t>ASCII</a:t>
            </a:r>
            <a:r>
              <a:rPr lang="zh-CN" altLang="en-US" dirty="0"/>
              <a:t>协议封装 及</a:t>
            </a:r>
            <a:r>
              <a:rPr lang="en-US" altLang="zh-CN" dirty="0"/>
              <a:t>CRC</a:t>
            </a:r>
            <a:r>
              <a:rPr lang="zh-CN" altLang="en-US" dirty="0"/>
              <a:t>算法的精准度 。  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en-US" dirty="0"/>
              <a:t>存储可靠性：变比、阈值、波特率及设备</a:t>
            </a:r>
            <a:r>
              <a:rPr lang="en-US" altLang="zh-CN" dirty="0"/>
              <a:t>ID</a:t>
            </a:r>
            <a:r>
              <a:rPr lang="zh-CN" altLang="en-US" dirty="0"/>
              <a:t>必须实现</a:t>
            </a:r>
            <a:r>
              <a:rPr lang="en-US" altLang="zh-CN" dirty="0"/>
              <a:t>Flash</a:t>
            </a:r>
            <a:r>
              <a:rPr lang="zh-CN" altLang="en-US" dirty="0"/>
              <a:t>持久化，确保掉电或复位零丢失 。 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/>
          <p:cNvGrpSpPr/>
          <p:nvPr/>
        </p:nvGrpSpPr>
        <p:grpSpPr>
          <a:xfrm>
            <a:off x="0" y="262202"/>
            <a:ext cx="8855507" cy="871592"/>
            <a:chOff x="0" y="567002"/>
            <a:chExt cx="8855507" cy="871592"/>
          </a:xfrm>
        </p:grpSpPr>
        <p:sp>
          <p:nvSpPr>
            <p:cNvPr id="202" name="圆角矩形 2"/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第二部分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系统单元功能分析设计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09" name="TextBox 208"/>
          <p:cNvSpPr txBox="1"/>
          <p:nvPr/>
        </p:nvSpPr>
        <p:spPr>
          <a:xfrm>
            <a:off x="215507" y="1296878"/>
            <a:ext cx="864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zh-CN" altLang="en-US" sz="2000" dirty="0"/>
              <a:t>一</a:t>
            </a:r>
            <a:r>
              <a:rPr sz="2000" dirty="0"/>
              <a:t>、</a:t>
            </a:r>
            <a:r>
              <a:rPr sz="2000" dirty="0" err="1"/>
              <a:t>系统软件架构与协议通信设计</a:t>
            </a:r>
            <a:endParaRPr sz="2000" dirty="0"/>
          </a:p>
        </p:txBody>
      </p:sp>
      <p:sp>
        <p:nvSpPr>
          <p:cNvPr id="210" name="Rounded Rectangle 209"/>
          <p:cNvSpPr/>
          <p:nvPr/>
        </p:nvSpPr>
        <p:spPr>
          <a:xfrm>
            <a:off x="5726836" y="1549588"/>
            <a:ext cx="1783591" cy="685347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rPr dirty="0" err="1"/>
              <a:t>应用逻辑层</a:t>
            </a:r>
            <a:br>
              <a:rPr dirty="0"/>
            </a:br>
            <a:r>
              <a:rPr dirty="0" err="1"/>
              <a:t>Function.c</a:t>
            </a:r>
            <a:r>
              <a:rPr dirty="0"/>
              <a:t> </a:t>
            </a:r>
            <a:r>
              <a:rPr dirty="0" err="1"/>
              <a:t>主循环</a:t>
            </a:r>
            <a:br>
              <a:rPr dirty="0"/>
            </a:br>
            <a:r>
              <a:rPr dirty="0" err="1"/>
              <a:t>ADC采集</a:t>
            </a:r>
            <a:r>
              <a:rPr dirty="0"/>
              <a:t>/</a:t>
            </a:r>
            <a:r>
              <a:rPr dirty="0" err="1"/>
              <a:t>DAC跟踪</a:t>
            </a:r>
            <a:r>
              <a:rPr dirty="0"/>
              <a:t>/</a:t>
            </a:r>
            <a:r>
              <a:rPr dirty="0" err="1"/>
              <a:t>OLED刷新</a:t>
            </a:r>
            <a:br>
              <a:rPr dirty="0"/>
            </a:br>
            <a:r>
              <a:rPr dirty="0" err="1"/>
              <a:t>自动上报</a:t>
            </a:r>
            <a:r>
              <a:rPr dirty="0"/>
              <a:t>/</a:t>
            </a:r>
            <a:r>
              <a:rPr dirty="0" err="1"/>
              <a:t>告警检测</a:t>
            </a:r>
            <a:r>
              <a:rPr dirty="0"/>
              <a:t>/</a:t>
            </a:r>
            <a:r>
              <a:rPr dirty="0" err="1"/>
              <a:t>按键处理</a:t>
            </a:r>
            <a:endParaRPr dirty="0"/>
          </a:p>
        </p:txBody>
      </p:sp>
      <p:sp>
        <p:nvSpPr>
          <p:cNvPr id="211" name="Right Arrow 210"/>
          <p:cNvSpPr/>
          <p:nvPr/>
        </p:nvSpPr>
        <p:spPr>
          <a:xfrm>
            <a:off x="7608667" y="1819962"/>
            <a:ext cx="169918" cy="20895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7876825" y="1541834"/>
            <a:ext cx="1888545" cy="685347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rPr dirty="0" err="1"/>
              <a:t>协议</a:t>
            </a:r>
            <a:r>
              <a:rPr dirty="0"/>
              <a:t>/</a:t>
            </a:r>
            <a:r>
              <a:rPr dirty="0" err="1"/>
              <a:t>命令层</a:t>
            </a:r>
            <a:br>
              <a:rPr dirty="0"/>
            </a:br>
            <a:r>
              <a:rPr dirty="0" err="1"/>
              <a:t>protocol.c</a:t>
            </a:r>
            <a:r>
              <a:rPr dirty="0"/>
              <a:t> + </a:t>
            </a:r>
            <a:r>
              <a:rPr dirty="0" err="1"/>
              <a:t>handler.c</a:t>
            </a:r>
            <a:br>
              <a:rPr dirty="0"/>
            </a:br>
            <a:r>
              <a:rPr dirty="0"/>
              <a:t>ASCII-</a:t>
            </a:r>
            <a:r>
              <a:rPr dirty="0" err="1"/>
              <a:t>hex帧编解码</a:t>
            </a:r>
            <a:br>
              <a:rPr dirty="0"/>
            </a:br>
            <a:r>
              <a:rPr dirty="0"/>
              <a:t>CRC-16-Modbus校验</a:t>
            </a:r>
            <a:br>
              <a:rPr dirty="0"/>
            </a:br>
            <a:r>
              <a:rPr lang="en-US" dirty="0"/>
              <a:t>30</a:t>
            </a:r>
            <a:r>
              <a:rPr lang="zh-CN" altLang="en-US" dirty="0"/>
              <a:t>余个</a:t>
            </a:r>
            <a:r>
              <a:rPr dirty="0" err="1"/>
              <a:t>命令字查表分发</a:t>
            </a:r>
            <a:endParaRPr dirty="0"/>
          </a:p>
        </p:txBody>
      </p:sp>
      <p:sp>
        <p:nvSpPr>
          <p:cNvPr id="214" name="Rounded Rectangle 213"/>
          <p:cNvSpPr/>
          <p:nvPr/>
        </p:nvSpPr>
        <p:spPr>
          <a:xfrm>
            <a:off x="10131768" y="1549588"/>
            <a:ext cx="1888544" cy="685347"/>
          </a:xfrm>
          <a:prstGeom prst="roundRect">
            <a:avLst/>
          </a:prstGeom>
          <a:solidFill>
            <a:srgbClr val="2F549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900" b="1">
                <a:solidFill>
                  <a:srgbClr val="FFFFFF"/>
                </a:solidFill>
              </a:defRPr>
            </a:pPr>
            <a:r>
              <a:rPr dirty="0" err="1"/>
              <a:t>硬件驱动层</a:t>
            </a:r>
            <a:br>
              <a:rPr dirty="0"/>
            </a:br>
            <a:r>
              <a:rPr dirty="0"/>
              <a:t>ADC/DAC/USART/OLED</a:t>
            </a:r>
            <a:br>
              <a:rPr dirty="0"/>
            </a:br>
            <a:r>
              <a:rPr dirty="0"/>
              <a:t>Flash/RTC/GD30AD3344</a:t>
            </a:r>
            <a:br>
              <a:rPr dirty="0"/>
            </a:br>
            <a:r>
              <a:rPr dirty="0" err="1"/>
              <a:t>封装底层寄存器操作</a:t>
            </a:r>
            <a:endParaRPr dirty="0"/>
          </a:p>
        </p:txBody>
      </p:sp>
      <p:sp>
        <p:nvSpPr>
          <p:cNvPr id="215" name="TextBox 214"/>
          <p:cNvSpPr txBox="1"/>
          <p:nvPr/>
        </p:nvSpPr>
        <p:spPr>
          <a:xfrm>
            <a:off x="8038513" y="2387973"/>
            <a:ext cx="16501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rPr dirty="0"/>
              <a:t> </a:t>
            </a:r>
            <a:r>
              <a:rPr dirty="0" err="1"/>
              <a:t>系统软件三层架构图</a:t>
            </a:r>
            <a:endParaRPr dirty="0"/>
          </a:p>
        </p:txBody>
      </p:sp>
      <p:graphicFrame>
        <p:nvGraphicFramePr>
          <p:cNvPr id="216" name="Table 215"/>
          <p:cNvGraphicFramePr>
            <a:graphicFrameLocks noGrp="1"/>
          </p:cNvGraphicFramePr>
          <p:nvPr/>
        </p:nvGraphicFramePr>
        <p:xfrm>
          <a:off x="309310" y="2227181"/>
          <a:ext cx="5219424" cy="1737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936"/>
                <a:gridCol w="579936"/>
                <a:gridCol w="579936"/>
                <a:gridCol w="579936"/>
                <a:gridCol w="579936"/>
                <a:gridCol w="579936"/>
                <a:gridCol w="579936"/>
                <a:gridCol w="579936"/>
                <a:gridCol w="579936"/>
              </a:tblGrid>
              <a:tr h="28921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帧头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DevID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Cmd</a:t>
                      </a:r>
                      <a:endParaRPr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Len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Ver</a:t>
                      </a:r>
                      <a:endParaRPr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Content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CRC16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帧尾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289217"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2B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2B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2B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rPr dirty="0"/>
                        <a:t>1B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NB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2B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2B</a:t>
                      </a:r>
                    </a:p>
                  </a:txBody>
                  <a:tcPr anchor="ctr"/>
                </a:tc>
              </a:tr>
              <a:tr h="759194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A5B6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设备ID</a:t>
                      </a:r>
                    </a:p>
                    <a:p>
                      <a:pPr algn="ctr">
                        <a:defRPr sz="900" b="0"/>
                      </a:pPr>
                      <a:r>
                        <a:t>大端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01=CMD</a:t>
                      </a:r>
                    </a:p>
                    <a:p>
                      <a:pPr algn="ctr">
                        <a:defRPr sz="900" b="0"/>
                      </a:pPr>
                      <a:r>
                        <a:t>02=RPLY</a:t>
                      </a:r>
                    </a:p>
                    <a:p>
                      <a:pPr algn="ctr">
                        <a:defRPr sz="900" b="0"/>
                      </a:pPr>
                      <a:r>
                        <a:t>05=HART</a:t>
                      </a:r>
                    </a:p>
                    <a:p>
                      <a:pPr algn="ctr">
                        <a:defRPr sz="900" b="0"/>
                      </a:pPr>
                      <a:r>
                        <a:t>FF=ERR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rPr dirty="0" err="1"/>
                        <a:t>命令字</a:t>
                      </a:r>
                      <a:endParaRPr dirty="0"/>
                    </a:p>
                    <a:p>
                      <a:pPr algn="ctr">
                        <a:defRPr sz="900" b="0"/>
                      </a:pPr>
                      <a:r>
                        <a:rPr dirty="0" err="1"/>
                        <a:t>大端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Content</a:t>
                      </a:r>
                    </a:p>
                    <a:p>
                      <a:pPr algn="ctr">
                        <a:defRPr sz="900" b="0"/>
                      </a:pPr>
                      <a:r>
                        <a:t>长度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固件</a:t>
                      </a:r>
                    </a:p>
                    <a:p>
                      <a:pPr algn="ctr">
                        <a:defRPr sz="900" b="0"/>
                      </a:pPr>
                      <a:r>
                        <a:t>版本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数据</a:t>
                      </a:r>
                    </a:p>
                    <a:p>
                      <a:pPr algn="ctr">
                        <a:defRPr sz="900" b="0"/>
                      </a:pPr>
                      <a:r>
                        <a:t>负载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Modbus</a:t>
                      </a:r>
                    </a:p>
                    <a:p>
                      <a:pPr algn="ctr">
                        <a:defRPr sz="900" b="0"/>
                      </a:pPr>
                      <a:r>
                        <a:t>校验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rPr dirty="0"/>
                        <a:t>B6A5</a:t>
                      </a:r>
                      <a:endParaRPr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7" name="TextBox 216"/>
          <p:cNvSpPr txBox="1"/>
          <p:nvPr/>
        </p:nvSpPr>
        <p:spPr>
          <a:xfrm>
            <a:off x="215507" y="1898109"/>
            <a:ext cx="50368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rPr sz="1100" dirty="0"/>
              <a:t>  ASCII-hex 协议帧结构（所有字段以ASCII十六进制编码传输，如0xA5→"A5"）</a:t>
            </a:r>
            <a:endParaRPr sz="1100" dirty="0"/>
          </a:p>
        </p:txBody>
      </p:sp>
      <p:graphicFrame>
        <p:nvGraphicFramePr>
          <p:cNvPr id="218" name="Table 217"/>
          <p:cNvGraphicFramePr>
            <a:graphicFrameLocks noGrp="1"/>
          </p:cNvGraphicFramePr>
          <p:nvPr/>
        </p:nvGraphicFramePr>
        <p:xfrm>
          <a:off x="6584539" y="2855722"/>
          <a:ext cx="5098536" cy="3650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634"/>
                <a:gridCol w="1274634"/>
                <a:gridCol w="1274634"/>
                <a:gridCol w="1274634"/>
              </a:tblGrid>
              <a:tr h="22585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命令类别</a:t>
                      </a:r>
                      <a:endParaRPr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命令字范围</a:t>
                      </a:r>
                      <a:endParaRPr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功能说明</a:t>
                      </a:r>
                      <a:endParaRPr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对应处理函数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592864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系统管理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rPr dirty="0"/>
                        <a:t>0x01xx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重启/查版本/查时间/设时间</a:t>
                      </a:r>
                    </a:p>
                    <a:p>
                      <a:pPr algn="ctr">
                        <a:defRPr sz="900" b="0"/>
                      </a:pPr>
                      <a:r>
                        <a:t>设设备ID/设波特率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h_reboot / h_query_version</a:t>
                      </a:r>
                    </a:p>
                    <a:p>
                      <a:pPr algn="ctr">
                        <a:defRPr sz="900" b="0"/>
                      </a:pPr>
                      <a:r>
                        <a:t>h_set_time / h_set_device_id ...</a:t>
                      </a:r>
                    </a:p>
                  </a:txBody>
                  <a:tcPr anchor="ctr"/>
                </a:tc>
              </a:tr>
              <a:tr h="719906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数据采集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0x02xx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查CH0/CH1/CH2电压</a:t>
                      </a:r>
                    </a:p>
                    <a:p>
                      <a:pPr algn="ctr">
                        <a:defRPr sz="900" b="0"/>
                      </a:pPr>
                      <a:r>
                        <a:t>设变比/设上报间隔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h_query_ch0 / h_query_ch1</a:t>
                      </a:r>
                    </a:p>
                    <a:p>
                      <a:pPr algn="ctr">
                        <a:defRPr sz="900" b="0"/>
                      </a:pPr>
                      <a:r>
                        <a:t>h_set_ratio_ch0 / h_set_report_interval ...</a:t>
                      </a:r>
                    </a:p>
                  </a:txBody>
                  <a:tcPr anchor="ctr"/>
                </a:tc>
              </a:tr>
              <a:tr h="465822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控制类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0x03xx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设DAC值</a:t>
                      </a:r>
                    </a:p>
                    <a:p>
                      <a:pPr algn="ctr">
                        <a:defRPr sz="900" b="0"/>
                      </a:pPr>
                      <a:r>
                        <a:t>启停自动上报/睡眠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h_set_dac</a:t>
                      </a:r>
                    </a:p>
                    <a:p>
                      <a:pPr algn="ctr">
                        <a:defRPr sz="900" b="0"/>
                      </a:pPr>
                      <a:r>
                        <a:t>h_auto_report_start / h_sleep ...</a:t>
                      </a:r>
                    </a:p>
                  </a:txBody>
                  <a:tcPr anchor="ctr"/>
                </a:tc>
              </a:tr>
              <a:tr h="404849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参数配置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0x04xx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读写CH0/CH1告警阈值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h_set_threshold_ch0</a:t>
                      </a:r>
                    </a:p>
                    <a:p>
                      <a:pPr algn="ctr">
                        <a:defRPr sz="900" b="0"/>
                      </a:pPr>
                      <a:r>
                        <a:t>h_read_threshold ...</a:t>
                      </a:r>
                    </a:p>
                  </a:txBody>
                  <a:tcPr anchor="ctr"/>
                </a:tc>
              </a:tr>
              <a:tr h="578354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系统升级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0x05xx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OTA请求/准备/执行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h_upgrade_request</a:t>
                      </a:r>
                    </a:p>
                    <a:p>
                      <a:pPr algn="ctr">
                        <a:defRPr sz="900" b="0"/>
                      </a:pPr>
                      <a:r>
                        <a:t>h_upgrade_prepare / h_upgrade_execute</a:t>
                      </a:r>
                    </a:p>
                  </a:txBody>
                  <a:tcPr anchor="ctr"/>
                </a:tc>
              </a:tr>
              <a:tr h="465822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告警管理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0x06xx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设告警模式/查告警/清告警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rPr dirty="0" err="1"/>
                        <a:t>h_set_alarm_mode</a:t>
                      </a:r>
                      <a:endParaRPr dirty="0"/>
                    </a:p>
                    <a:p>
                      <a:pPr algn="ctr">
                        <a:defRPr sz="900" b="0"/>
                      </a:pPr>
                      <a:r>
                        <a:rPr dirty="0" err="1"/>
                        <a:t>h_query_alarm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h_clear_alarm</a:t>
                      </a:r>
                      <a:endParaRPr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9" name="TextBox 218"/>
          <p:cNvSpPr txBox="1"/>
          <p:nvPr/>
        </p:nvSpPr>
        <p:spPr>
          <a:xfrm>
            <a:off x="7860127" y="6595798"/>
            <a:ext cx="29841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rPr lang="zh-CN" altLang="en-US" dirty="0"/>
              <a:t>  </a:t>
            </a:r>
            <a:r>
              <a:rPr lang="en-US" altLang="zh-CN" dirty="0"/>
              <a:t>30</a:t>
            </a:r>
            <a:r>
              <a:rPr lang="zh-CN" altLang="en-US" dirty="0"/>
              <a:t>余</a:t>
            </a:r>
            <a:r>
              <a:rPr dirty="0" err="1"/>
              <a:t>个命令字分发表（cmd_table</a:t>
            </a:r>
            <a:r>
              <a:rPr dirty="0"/>
              <a:t>[</a:t>
            </a:r>
            <a:r>
              <a:rPr lang="en-US" dirty="0"/>
              <a:t> </a:t>
            </a:r>
            <a:r>
              <a:rPr dirty="0"/>
              <a:t>] </a:t>
            </a:r>
            <a:r>
              <a:rPr dirty="0" err="1"/>
              <a:t>查表分发</a:t>
            </a:r>
            <a:r>
              <a:rPr dirty="0"/>
              <a:t>）</a:t>
            </a:r>
            <a:endParaRPr dirty="0"/>
          </a:p>
        </p:txBody>
      </p:sp>
      <p:sp>
        <p:nvSpPr>
          <p:cNvPr id="220" name="TextBox 219"/>
          <p:cNvSpPr txBox="1"/>
          <p:nvPr/>
        </p:nvSpPr>
        <p:spPr>
          <a:xfrm>
            <a:off x="85047" y="4225918"/>
            <a:ext cx="6436533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/>
            </a:pPr>
            <a:r>
              <a:rPr sz="1400" dirty="0" err="1"/>
              <a:t>分发逻辑流程</a:t>
            </a:r>
            <a:r>
              <a:rPr sz="1400" dirty="0"/>
              <a:t>：</a:t>
            </a:r>
            <a:endParaRPr sz="1400" dirty="0"/>
          </a:p>
          <a:p>
            <a:pPr>
              <a:spcAft>
                <a:spcPts val="200"/>
              </a:spcAft>
              <a:defRPr sz="1100" b="0"/>
            </a:pPr>
            <a:r>
              <a:rPr sz="1400" dirty="0"/>
              <a:t>① </a:t>
            </a:r>
            <a:r>
              <a:rPr sz="1400" dirty="0" err="1"/>
              <a:t>handler_dispatch</a:t>
            </a:r>
            <a:r>
              <a:rPr sz="1400" dirty="0"/>
              <a:t>() </a:t>
            </a:r>
            <a:r>
              <a:rPr sz="1400" dirty="0" err="1"/>
              <a:t>校验</a:t>
            </a:r>
            <a:r>
              <a:rPr sz="1400" dirty="0"/>
              <a:t> </a:t>
            </a:r>
            <a:r>
              <a:rPr sz="1400" dirty="0" err="1"/>
              <a:t>DevID</a:t>
            </a:r>
            <a:r>
              <a:rPr sz="1400" dirty="0"/>
              <a:t> </a:t>
            </a:r>
            <a:r>
              <a:rPr sz="1400" dirty="0" err="1"/>
              <a:t>是否匹配本机或广播</a:t>
            </a:r>
            <a:r>
              <a:rPr sz="1400" dirty="0"/>
              <a:t>(0xFFFF)，</a:t>
            </a:r>
            <a:r>
              <a:rPr sz="1400" dirty="0" err="1"/>
              <a:t>不匹配则丢弃</a:t>
            </a:r>
            <a:endParaRPr sz="1400" dirty="0"/>
          </a:p>
          <a:p>
            <a:pPr>
              <a:spcAft>
                <a:spcPts val="200"/>
              </a:spcAft>
              <a:defRPr sz="1100" b="0"/>
            </a:pPr>
            <a:r>
              <a:rPr sz="1400" dirty="0"/>
              <a:t>② </a:t>
            </a:r>
            <a:r>
              <a:rPr sz="1400" dirty="0" err="1"/>
              <a:t>校验帧类型：仅接受</a:t>
            </a:r>
            <a:r>
              <a:rPr sz="1400" dirty="0"/>
              <a:t> CMD(0x01) 和 HART(0x05)，REPLY/ERR </a:t>
            </a:r>
            <a:r>
              <a:rPr sz="1400" dirty="0" err="1"/>
              <a:t>类型直接忽略</a:t>
            </a:r>
            <a:endParaRPr sz="1400" dirty="0"/>
          </a:p>
          <a:p>
            <a:pPr>
              <a:spcAft>
                <a:spcPts val="200"/>
              </a:spcAft>
              <a:defRPr sz="1100" b="0"/>
            </a:pPr>
            <a:r>
              <a:rPr sz="1400" dirty="0"/>
              <a:t>③ HART </a:t>
            </a:r>
            <a:r>
              <a:rPr sz="1400" dirty="0" err="1"/>
              <a:t>帧特殊处理：DevID</a:t>
            </a:r>
            <a:r>
              <a:rPr sz="1400" dirty="0"/>
              <a:t>=0x8888 </a:t>
            </a:r>
            <a:r>
              <a:rPr sz="1400" dirty="0" err="1"/>
              <a:t>回复心跳；广播</a:t>
            </a:r>
            <a:r>
              <a:rPr sz="1400" dirty="0"/>
              <a:t> HART </a:t>
            </a:r>
            <a:r>
              <a:rPr sz="1400" dirty="0" err="1"/>
              <a:t>回复本机</a:t>
            </a:r>
            <a:r>
              <a:rPr sz="1400" dirty="0"/>
              <a:t> ID</a:t>
            </a:r>
            <a:endParaRPr sz="1400" dirty="0"/>
          </a:p>
          <a:p>
            <a:pPr>
              <a:spcAft>
                <a:spcPts val="200"/>
              </a:spcAft>
              <a:defRPr sz="1100" b="0"/>
            </a:pPr>
            <a:r>
              <a:rPr sz="1400" dirty="0"/>
              <a:t>④ </a:t>
            </a:r>
            <a:r>
              <a:rPr sz="1400" dirty="0" err="1"/>
              <a:t>自动上报期间屏蔽非停止指令（仅</a:t>
            </a:r>
            <a:r>
              <a:rPr sz="1400" dirty="0"/>
              <a:t> CMD_RPT_OFF </a:t>
            </a:r>
            <a:r>
              <a:rPr sz="1400" dirty="0" err="1"/>
              <a:t>可响应</a:t>
            </a:r>
            <a:r>
              <a:rPr sz="1400" dirty="0"/>
              <a:t>）</a:t>
            </a:r>
            <a:endParaRPr sz="1400" dirty="0"/>
          </a:p>
          <a:p>
            <a:pPr>
              <a:spcAft>
                <a:spcPts val="200"/>
              </a:spcAft>
              <a:defRPr sz="1100" b="0"/>
            </a:pPr>
            <a:r>
              <a:rPr sz="1400" dirty="0"/>
              <a:t>⑤ </a:t>
            </a:r>
            <a:r>
              <a:rPr sz="1400" dirty="0" err="1"/>
              <a:t>线性遍历</a:t>
            </a:r>
            <a:r>
              <a:rPr sz="1400" dirty="0"/>
              <a:t> </a:t>
            </a:r>
            <a:r>
              <a:rPr sz="1400" dirty="0" err="1"/>
              <a:t>cmd_table</a:t>
            </a:r>
            <a:r>
              <a:rPr sz="1400" dirty="0"/>
              <a:t>[] </a:t>
            </a:r>
            <a:r>
              <a:rPr sz="1400" dirty="0" err="1"/>
              <a:t>匹配</a:t>
            </a:r>
            <a:r>
              <a:rPr sz="1400" dirty="0"/>
              <a:t> </a:t>
            </a:r>
            <a:r>
              <a:rPr sz="1400" dirty="0" err="1"/>
              <a:t>Cmd</a:t>
            </a:r>
            <a:r>
              <a:rPr sz="1400" dirty="0"/>
              <a:t> </a:t>
            </a:r>
            <a:r>
              <a:rPr sz="1400" dirty="0" err="1"/>
              <a:t>字段，命中则调用对应</a:t>
            </a:r>
            <a:r>
              <a:rPr sz="1400" dirty="0"/>
              <a:t> </a:t>
            </a:r>
            <a:r>
              <a:rPr sz="1400" dirty="0" err="1"/>
              <a:t>handler，未命中回复</a:t>
            </a:r>
            <a:r>
              <a:rPr sz="1400" dirty="0"/>
              <a:t> ERR_CMD</a:t>
            </a:r>
            <a:endParaRPr sz="1400" dirty="0"/>
          </a:p>
        </p:txBody>
      </p:sp>
      <p:sp>
        <p:nvSpPr>
          <p:cNvPr id="2" name="Right Arrow 210"/>
          <p:cNvSpPr/>
          <p:nvPr/>
        </p:nvSpPr>
        <p:spPr>
          <a:xfrm>
            <a:off x="9863610" y="1819962"/>
            <a:ext cx="169918" cy="20895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288000"/>
            <a:ext cx="40062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lang="zh-CN" altLang="en-US" dirty="0"/>
              <a:t>二</a:t>
            </a:r>
            <a:r>
              <a:rPr dirty="0"/>
              <a:t>、</a:t>
            </a:r>
            <a:r>
              <a:rPr dirty="0" err="1"/>
              <a:t>数据采集与信号处理单元设计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864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1、三通道数据采集架构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007999"/>
          <a:ext cx="8640000" cy="132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440000"/>
                <a:gridCol w="1440000"/>
                <a:gridCol w="1440000"/>
                <a:gridCol w="1440000"/>
                <a:gridCol w="1440000"/>
              </a:tblGrid>
              <a:tr h="315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通道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信号源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ADC类型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采集方式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换算公式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输出结果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CH0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模拟电压输入</a:t>
                      </a:r>
                    </a:p>
                    <a:p>
                      <a:pPr algn="ctr">
                        <a:defRPr sz="800" b="0"/>
                      </a:pPr>
                      <a:r>
                        <a:t>(滑动变阻器)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内部ADC0</a:t>
                      </a:r>
                    </a:p>
                    <a:p>
                      <a:pPr algn="ctr">
                        <a:defRPr sz="800" b="0"/>
                      </a:pPr>
                      <a:r>
                        <a:t>(12位)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20次硬件平均</a:t>
                      </a:r>
                    </a:p>
                    <a:p>
                      <a:pPr algn="ctr">
                        <a:defRPr sz="800" b="0"/>
                      </a:pPr>
                      <a:r>
                        <a:t>+ 5点滑动平均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temp = raw x ratio</a:t>
                      </a:r>
                    </a:p>
                    <a:p>
                      <a:pPr algn="ctr">
                        <a:defRPr sz="800" b="0"/>
                      </a:pPr>
                      <a:r>
                        <a:t>/ 4096 x 3.3V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float 电压值</a:t>
                      </a:r>
                    </a:p>
                    <a:p>
                      <a:pPr algn="ctr">
                        <a:defRPr sz="800" b="0"/>
                      </a:pPr>
                      <a:r>
                        <a:t>(自动上报/查询)</a:t>
                      </a:r>
                    </a:p>
                  </a:txBody>
                  <a:tcPr anchor="ctr"/>
                </a:tc>
              </a:tr>
              <a:tr h="315000"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CH1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模拟电压输入</a:t>
                      </a:r>
                    </a:p>
                    <a:p>
                      <a:pPr algn="ctr">
                        <a:defRPr sz="800" b="0"/>
                      </a:pPr>
                      <a:r>
                        <a:t>(第二通道)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内部ADC0</a:t>
                      </a:r>
                    </a:p>
                    <a:p>
                      <a:pPr algn="ctr">
                        <a:defRPr sz="800" b="0"/>
                      </a:pPr>
                      <a:r>
                        <a:t>插入通道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单次软件触发</a:t>
                      </a:r>
                    </a:p>
                    <a:p>
                      <a:pPr algn="ctr">
                        <a:defRPr sz="800" b="0"/>
                      </a:pPr>
                      <a:r>
                        <a:t>即时读取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val = raw x ratio</a:t>
                      </a:r>
                    </a:p>
                    <a:p>
                      <a:pPr algn="ctr">
                        <a:defRPr sz="800" b="0"/>
                      </a:pPr>
                      <a:r>
                        <a:t>/ 4096 x 3.3V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float 电压值</a:t>
                      </a:r>
                    </a:p>
                    <a:p>
                      <a:pPr algn="ctr">
                        <a:defRPr sz="800" b="0"/>
                      </a:pPr>
                      <a:r>
                        <a:t>(查询/上报)</a:t>
                      </a:r>
                    </a:p>
                  </a:txBody>
                  <a:tcPr anchor="ctr"/>
                </a:tc>
              </a:tr>
              <a:tr h="315000"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CH2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PT100温度传感器</a:t>
                      </a:r>
                    </a:p>
                    <a:p>
                      <a:pPr algn="ctr">
                        <a:defRPr sz="800" b="0"/>
                      </a:pPr>
                      <a:r>
                        <a:t>(四线制)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外部GD30AD3344</a:t>
                      </a:r>
                    </a:p>
                    <a:p>
                      <a:pPr algn="ctr">
                        <a:defRPr sz="800" b="0"/>
                      </a:pPr>
                      <a:r>
                        <a:t>(24位, SPI)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SPI读取原始值</a:t>
                      </a:r>
                    </a:p>
                    <a:p>
                      <a:pPr algn="ctr">
                        <a:defRPr sz="800" b="0"/>
                      </a:pPr>
                      <a:r>
                        <a:t>PGA=4.096V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deg_c = v_adc x 100</a:t>
                      </a:r>
                    </a:p>
                    <a:p>
                      <a:pPr algn="ctr">
                        <a:defRPr sz="800" b="0"/>
                      </a:pPr>
                      <a:r>
                        <a:t>(1mA恒流源)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float 温度值</a:t>
                      </a:r>
                    </a:p>
                    <a:p>
                      <a:pPr algn="ctr">
                        <a:defRPr sz="800" b="0"/>
                      </a:pPr>
                      <a:r>
                        <a:t>(摄氏度)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4000" y="2421001"/>
            <a:ext cx="864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 dirty="0"/>
              <a:t>2、CH0 </a:t>
            </a:r>
            <a:r>
              <a:rPr dirty="0" err="1"/>
              <a:t>双重滤波算法流程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04000" y="2718000"/>
            <a:ext cx="1277133" cy="576000"/>
          </a:xfrm>
          <a:prstGeom prst="roundRect">
            <a:avLst/>
          </a:prstGeom>
          <a:solidFill>
            <a:srgbClr val="2F549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rPr dirty="0" err="1"/>
              <a:t>ADC_Get_Average</a:t>
            </a:r>
            <a:r>
              <a:rPr dirty="0"/>
              <a:t>(20)</a:t>
            </a:r>
            <a:br>
              <a:rPr dirty="0"/>
            </a:br>
            <a:r>
              <a:rPr dirty="0"/>
              <a:t>硬件20次采样取均值</a:t>
            </a:r>
            <a:endParaRPr dirty="0"/>
          </a:p>
        </p:txBody>
      </p:sp>
      <p:sp>
        <p:nvSpPr>
          <p:cNvPr id="7" name="Right Arrow 6"/>
          <p:cNvSpPr/>
          <p:nvPr/>
        </p:nvSpPr>
        <p:spPr>
          <a:xfrm>
            <a:off x="1817133" y="2898000"/>
            <a:ext cx="216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69133" y="2718000"/>
            <a:ext cx="1152000" cy="576000"/>
          </a:xfrm>
          <a:prstGeom prst="roundRect">
            <a:avLst/>
          </a:prstGeom>
          <a:solidFill>
            <a:srgbClr val="4472C4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写入 adc_history[5]</a:t>
            </a:r>
            <a:br/>
            <a:r>
              <a:t>环形缓冲区更新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57133" y="2898000"/>
            <a:ext cx="216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09133" y="2718000"/>
            <a:ext cx="1152000" cy="576000"/>
          </a:xfrm>
          <a:prstGeom prst="roundRect">
            <a:avLst/>
          </a:prstGeom>
          <a:solidFill>
            <a:srgbClr val="5B9BD5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sum / 5</a:t>
            </a:r>
            <a:br/>
            <a:r>
              <a:t>滑动平均滤波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97133" y="2898000"/>
            <a:ext cx="216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49133" y="2718000"/>
            <a:ext cx="1152000" cy="576000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ADC_To_Voltage()</a:t>
            </a:r>
            <a:br/>
            <a:r>
              <a:t>x ratio 换算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37133" y="2898000"/>
            <a:ext cx="216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89133" y="2718000"/>
            <a:ext cx="1152000" cy="576000"/>
          </a:xfrm>
          <a:prstGeom prst="roundRect">
            <a:avLst/>
          </a:prstGeom>
          <a:solidFill>
            <a:srgbClr val="ED7D31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temp 全局变量</a:t>
            </a:r>
            <a:br/>
            <a:r>
              <a:t>供上报/告警/DAC使用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3384000"/>
            <a:ext cx="86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/>
            </a:pPr>
            <a:r>
              <a:rPr dirty="0"/>
              <a:t> CH0双重滤波流程（硬件平均消除随机噪声 + </a:t>
            </a:r>
            <a:r>
              <a:rPr dirty="0" err="1"/>
              <a:t>滑动平均平滑突变</a:t>
            </a:r>
            <a:r>
              <a:rPr dirty="0"/>
              <a:t>）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40000" y="3600000"/>
            <a:ext cx="864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3、DAC跟踪输出模式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3888000"/>
            <a:ext cx="864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rPr dirty="0" err="1"/>
              <a:t>启用条件：g_dac_follow_enable</a:t>
            </a:r>
            <a:r>
              <a:rPr dirty="0"/>
              <a:t> = 1（默认开启）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40000" y="4068000"/>
            <a:ext cx="864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rPr dirty="0" err="1"/>
              <a:t>工作原理：主循环每轮调用</a:t>
            </a:r>
            <a:r>
              <a:rPr dirty="0"/>
              <a:t> </a:t>
            </a:r>
            <a:r>
              <a:rPr dirty="0" err="1"/>
              <a:t>DAC_Follow_ADC</a:t>
            </a:r>
            <a:r>
              <a:rPr dirty="0"/>
              <a:t>(</a:t>
            </a:r>
            <a:r>
              <a:rPr dirty="0" err="1"/>
              <a:t>adcx</a:t>
            </a:r>
            <a:r>
              <a:rPr dirty="0"/>
              <a:t>, </a:t>
            </a:r>
            <a:r>
              <a:rPr dirty="0" err="1"/>
              <a:t>g_ratio</a:t>
            </a:r>
            <a:r>
              <a:rPr dirty="0"/>
              <a:t>)，将CH0滤波后采样值经变比换算后实时输出到DAC引脚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40000" y="4248000"/>
            <a:ext cx="864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rPr dirty="0" err="1"/>
              <a:t>应用场景：模拟信号调理、传感器信号复现、闭环控制系统执行器驱动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593133" y="4569229"/>
            <a:ext cx="864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 dirty="0"/>
              <a:t>4、OLED显示与LED状态联动</a:t>
            </a:r>
            <a:endParaRPr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0000" y="4930000"/>
          <a:ext cx="8640000" cy="137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</a:tblGrid>
              <a:tr h="252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外设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状态条件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显示/动作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刷新周期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OLED 第1行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始终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队伍编号 "2026296117"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1秒</a:t>
                      </a:r>
                    </a:p>
                  </a:txBody>
                  <a:tcPr anchor="ctr"/>
                </a:tc>
              </a:tr>
              <a:tr h="2520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rPr dirty="0"/>
                        <a:t>OLED 第2行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g_auto_report_active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AutoSample / IDLE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1秒</a:t>
                      </a:r>
                    </a:p>
                  </a:txBody>
                  <a:tcPr anchor="ctr"/>
                </a:tc>
              </a:tr>
              <a:tr h="2520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LED1 状态灯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始终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500ms心跳闪烁</a:t>
                      </a:r>
                    </a:p>
                    <a:p>
                      <a:pPr algn="ctr">
                        <a:defRPr sz="900" b="0"/>
                      </a:pPr>
                      <a:r>
                        <a:t>(主循环存活指示)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500ms</a:t>
                      </a:r>
                    </a:p>
                  </a:txBody>
                  <a:tcPr anchor="ctr"/>
                </a:tc>
              </a:tr>
              <a:tr h="2520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LED2 采集灯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g_auto_report_active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1=常亮 / 0=熄灭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rPr dirty="0" err="1"/>
                        <a:t>状态切换时</a:t>
                      </a:r>
                      <a:endParaRPr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4000" y="6390000"/>
            <a:ext cx="86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/>
            </a:pPr>
            <a:r>
              <a:rPr dirty="0"/>
              <a:t> OLED/</a:t>
            </a:r>
            <a:r>
              <a:rPr dirty="0" err="1"/>
              <a:t>LED状态联动（状态与上报标志位强绑定，确保人机交互一致性</a:t>
            </a:r>
            <a:r>
              <a:rPr dirty="0"/>
              <a:t>）</a:t>
            </a:r>
            <a:endParaRPr dirty="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3059" y="287192"/>
            <a:ext cx="41697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lang="zh-CN" altLang="en-US" dirty="0"/>
              <a:t>三</a:t>
            </a:r>
            <a:r>
              <a:rPr dirty="0"/>
              <a:t>、</a:t>
            </a:r>
            <a:r>
              <a:rPr dirty="0" err="1"/>
              <a:t>参数管理与告警机制单元设计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52264" y="793282"/>
          <a:ext cx="6441832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0458"/>
                <a:gridCol w="1610458"/>
                <a:gridCol w="1610458"/>
                <a:gridCol w="1610458"/>
              </a:tblGrid>
              <a:tr h="21873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字段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类型</a:t>
                      </a:r>
                      <a:endParaRPr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偏移</a:t>
                      </a:r>
                      <a:endParaRPr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300760"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magic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uint32_t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0x00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魔数 0x43494D43 ("CIMC")，标识参数区有效</a:t>
                      </a:r>
                    </a:p>
                  </a:txBody>
                  <a:tcPr anchor="ctr"/>
                </a:tc>
              </a:tr>
              <a:tr h="191392"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ch0_ratio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0x04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CH0通道变比，用于电压换算</a:t>
                      </a:r>
                    </a:p>
                  </a:txBody>
                  <a:tcPr anchor="ctr"/>
                </a:tc>
              </a:tr>
              <a:tr h="191392"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ch1_ratio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0x08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CH1通道变比</a:t>
                      </a:r>
                    </a:p>
                  </a:txBody>
                  <a:tcPr anchor="ctr"/>
                </a:tc>
              </a:tr>
              <a:tr h="181858"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ch0_threshold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rPr dirty="0"/>
                        <a:t>float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rPr dirty="0"/>
                        <a:t>0x0C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CH0告警阈值</a:t>
                      </a:r>
                    </a:p>
                  </a:txBody>
                  <a:tcPr anchor="ctr"/>
                </a:tc>
              </a:tr>
              <a:tr h="191392"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rPr dirty="0"/>
                        <a:t>ch1_threshold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rPr dirty="0"/>
                        <a:t>0x10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CH1告警阈值</a:t>
                      </a:r>
                    </a:p>
                  </a:txBody>
                  <a:tcPr anchor="ctr"/>
                </a:tc>
              </a:tr>
              <a:tr h="191392"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device_id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rPr dirty="0"/>
                        <a:t>uint16_t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0x14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设备ID（默认0x0001）</a:t>
                      </a:r>
                    </a:p>
                  </a:txBody>
                  <a:tcPr anchor="ctr"/>
                </a:tc>
              </a:tr>
              <a:tr h="191392"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rPr dirty="0" err="1"/>
                        <a:t>baud_code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uint8_t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0x16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波特率编码（0x13=19200）</a:t>
                      </a:r>
                    </a:p>
                  </a:txBody>
                  <a:tcPr anchor="ctr"/>
                </a:tc>
              </a:tr>
              <a:tr h="300760"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alarm_mode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uint8_t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0x17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告警模式（0x01上报/0x02被动存储）</a:t>
                      </a:r>
                    </a:p>
                  </a:txBody>
                  <a:tcPr anchor="ctr"/>
                </a:tc>
              </a:tr>
              <a:tr h="191392"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crc32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uint32_t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/>
                      </a:pPr>
                      <a:r>
                        <a:t>0x1C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rPr dirty="0"/>
                        <a:t>CRC32校验（覆盖前28字节）</a:t>
                      </a:r>
                      <a:endParaRPr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17355" y="3547396"/>
            <a:ext cx="1080000" cy="503999"/>
          </a:xfrm>
          <a:prstGeom prst="roundRect">
            <a:avLst/>
          </a:prstGeom>
          <a:solidFill>
            <a:srgbClr val="2F549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rPr dirty="0" err="1"/>
              <a:t>读取Flash</a:t>
            </a:r>
            <a:br>
              <a:rPr dirty="0"/>
            </a:br>
            <a:r>
              <a:rPr dirty="0"/>
              <a:t>0x08010000</a:t>
            </a:r>
            <a:endParaRPr dirty="0"/>
          </a:p>
        </p:txBody>
      </p:sp>
      <p:sp>
        <p:nvSpPr>
          <p:cNvPr id="8" name="Right Arrow 7"/>
          <p:cNvSpPr/>
          <p:nvPr/>
        </p:nvSpPr>
        <p:spPr>
          <a:xfrm>
            <a:off x="1433355" y="3691396"/>
            <a:ext cx="180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9355" y="3547396"/>
            <a:ext cx="1080000" cy="503999"/>
          </a:xfrm>
          <a:prstGeom prst="roundRect">
            <a:avLst/>
          </a:prstGeom>
          <a:solidFill>
            <a:srgbClr val="4472C4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校验 magic</a:t>
            </a:r>
            <a:br/>
            <a:r>
              <a:t>== 0x43494D43 ?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65355" y="3691396"/>
            <a:ext cx="180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81355" y="3540943"/>
            <a:ext cx="1080000" cy="503999"/>
          </a:xfrm>
          <a:prstGeom prst="roundRect">
            <a:avLst/>
          </a:prstGeom>
          <a:solidFill>
            <a:srgbClr val="5B9BD5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校验 CRC32</a:t>
            </a:r>
            <a:br/>
            <a:r>
              <a:t>完整性校验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97355" y="3691396"/>
            <a:ext cx="180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3355" y="3547396"/>
            <a:ext cx="900000" cy="503999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加载参数</a:t>
            </a:r>
            <a:br/>
            <a:r>
              <a:t>g_ch0_ratio</a:t>
            </a:r>
            <a:br/>
            <a:r>
              <a:t>...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49355" y="3691396"/>
            <a:ext cx="180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5355" y="3547396"/>
            <a:ext cx="900000" cy="503999"/>
          </a:xfrm>
          <a:prstGeom prst="roundRect">
            <a:avLst/>
          </a:prstGeom>
          <a:solidFill>
            <a:srgbClr val="C0504D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失败→使用</a:t>
            </a:r>
            <a:br/>
            <a:r>
              <a:t>默认值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5355" y="3690150"/>
            <a:ext cx="44287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/>
            </a:pPr>
            <a:r>
              <a:rPr dirty="0"/>
              <a:t> </a:t>
            </a:r>
            <a:r>
              <a:rPr sz="1100" dirty="0" err="1"/>
              <a:t>参数加载流程</a:t>
            </a:r>
            <a:r>
              <a:rPr dirty="0" err="1"/>
              <a:t>（magic</a:t>
            </a:r>
            <a:r>
              <a:rPr dirty="0"/>
              <a:t> + CRC32 </a:t>
            </a:r>
            <a:r>
              <a:rPr dirty="0" err="1"/>
              <a:t>双重校验，失败时使用默认值保证系统可用</a:t>
            </a:r>
            <a:r>
              <a:rPr dirty="0"/>
              <a:t>）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317355" y="4249783"/>
            <a:ext cx="1080000" cy="503999"/>
          </a:xfrm>
          <a:prstGeom prst="roundRect">
            <a:avLst/>
          </a:prstGeom>
          <a:solidFill>
            <a:srgbClr val="2F549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更新 cfg</a:t>
            </a:r>
            <a:br/>
            <a:r>
              <a:t>结构体字段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433355" y="4393783"/>
            <a:ext cx="180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49355" y="4249783"/>
            <a:ext cx="1080000" cy="503999"/>
          </a:xfrm>
          <a:prstGeom prst="roundRect">
            <a:avLst/>
          </a:prstGeom>
          <a:solidFill>
            <a:srgbClr val="4472C4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计算 CRC32</a:t>
            </a:r>
            <a:br/>
            <a:r>
              <a:t>cfg.crc32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765355" y="4393783"/>
            <a:ext cx="180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81355" y="4249783"/>
            <a:ext cx="1080000" cy="503999"/>
          </a:xfrm>
          <a:prstGeom prst="roundRect">
            <a:avLst/>
          </a:prstGeom>
          <a:solidFill>
            <a:srgbClr val="5B9BD5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擦除页</a:t>
            </a:r>
            <a:br/>
            <a:r>
              <a:t>fmc_iap_erase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097355" y="4393783"/>
            <a:ext cx="180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13355" y="4249783"/>
            <a:ext cx="900000" cy="503999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写入Flash</a:t>
            </a:r>
            <a:br/>
            <a:r>
              <a:t>fmc_iap_write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9355" y="4352861"/>
            <a:ext cx="32478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/>
            </a:pPr>
            <a:r>
              <a:rPr dirty="0"/>
              <a:t>  参数保存流程（更新→</a:t>
            </a:r>
            <a:r>
              <a:rPr sz="1100" dirty="0"/>
              <a:t>CRC32</a:t>
            </a:r>
            <a:r>
              <a:rPr dirty="0"/>
              <a:t>→擦除→写入，掉电安全）</a:t>
            </a:r>
            <a:endParaRPr dirty="0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263059" y="5480622"/>
          <a:ext cx="6048001" cy="130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555"/>
                <a:gridCol w="2375023"/>
                <a:gridCol w="1776423"/>
              </a:tblGrid>
              <a:tr h="248511">
                <a:tc>
                  <a:txBody>
                    <a:bodyPr/>
                    <a:lstStyle/>
                    <a:p>
                      <a:r>
                        <a:rPr sz="1200" dirty="0" err="1"/>
                        <a:t>告警模式</a:t>
                      </a:r>
                      <a:endParaRPr sz="1200"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/>
                        <a:t>触发行为</a:t>
                      </a:r>
                      <a:endParaRPr sz="1200"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/>
                        <a:t>记录方式</a:t>
                      </a:r>
                      <a:endParaRPr sz="1200"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569462">
                <a:tc>
                  <a:txBody>
                    <a:bodyPr/>
                    <a:lstStyle/>
                    <a:p>
                      <a:r>
                        <a:rPr sz="1200" dirty="0"/>
                        <a:t>0x01 </a:t>
                      </a:r>
                      <a:r>
                        <a:rPr sz="1200" dirty="0" err="1"/>
                        <a:t>主动上报</a:t>
                      </a:r>
                      <a:endParaRPr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 err="1"/>
                        <a:t>超阈值时立即输出告警字</a:t>
                      </a:r>
                      <a:r>
                        <a:rPr lang="zh-CN" altLang="en-US" sz="1200" dirty="0"/>
                        <a:t>符</a:t>
                      </a:r>
                      <a:r>
                        <a:rPr sz="1200" dirty="0"/>
                        <a:t>串</a:t>
                      </a:r>
                      <a:endParaRPr sz="1200" dirty="0"/>
                    </a:p>
                    <a:p>
                      <a:r>
                        <a:rPr sz="1200" dirty="0" err="1"/>
                        <a:t>格式：时间</a:t>
                      </a:r>
                      <a:r>
                        <a:rPr sz="1200" dirty="0"/>
                        <a:t> | </a:t>
                      </a:r>
                      <a:r>
                        <a:rPr sz="1200" dirty="0" err="1"/>
                        <a:t>通道</a:t>
                      </a:r>
                      <a:r>
                        <a:rPr sz="1200" dirty="0"/>
                        <a:t> | </a:t>
                      </a:r>
                      <a:r>
                        <a:rPr sz="1200" dirty="0" err="1"/>
                        <a:t>阈值</a:t>
                      </a:r>
                      <a:r>
                        <a:rPr sz="1200" dirty="0"/>
                        <a:t> | </a:t>
                      </a:r>
                      <a:r>
                        <a:rPr sz="1200" dirty="0" err="1"/>
                        <a:t>实际值</a:t>
                      </a:r>
                      <a:endParaRPr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循环缓冲区存储最多10条</a:t>
                      </a:r>
                      <a:endParaRPr sz="1200" dirty="0"/>
                    </a:p>
                  </a:txBody>
                  <a:tcPr anchor="ctr"/>
                </a:tc>
              </a:tr>
              <a:tr h="457140">
                <a:tc>
                  <a:txBody>
                    <a:bodyPr/>
                    <a:lstStyle/>
                    <a:p>
                      <a:r>
                        <a:rPr sz="1200" dirty="0"/>
                        <a:t>0x02 </a:t>
                      </a:r>
                      <a:r>
                        <a:rPr sz="1200" dirty="0" err="1"/>
                        <a:t>被动存储</a:t>
                      </a:r>
                      <a:endParaRPr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 err="1"/>
                        <a:t>超阈值时仅记录不主动发送</a:t>
                      </a:r>
                      <a:endParaRPr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循环缓冲区存储最多10条</a:t>
                      </a:r>
                      <a:endParaRPr sz="12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63059" y="5135728"/>
            <a:ext cx="48784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/>
            </a:pPr>
            <a:r>
              <a:rPr sz="1200" dirty="0" err="1"/>
              <a:t>两种告警模式对比（环形缓冲区</a:t>
            </a:r>
            <a:r>
              <a:rPr sz="1200" dirty="0"/>
              <a:t> </a:t>
            </a:r>
            <a:r>
              <a:rPr sz="1200" dirty="0" err="1"/>
              <a:t>bj</a:t>
            </a:r>
            <a:r>
              <a:rPr sz="1200" dirty="0"/>
              <a:t>[10]，</a:t>
            </a:r>
            <a:r>
              <a:rPr sz="1200" dirty="0" err="1"/>
              <a:t>先进先出，支持查询和清除</a:t>
            </a:r>
            <a:r>
              <a:rPr sz="1200" dirty="0"/>
              <a:t>）</a:t>
            </a:r>
            <a:endParaRPr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317355" y="755182"/>
            <a:ext cx="3718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dirty="0"/>
              <a:t>1、Flash参数持久化结构（flash_params_t）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263059" y="1134960"/>
            <a:ext cx="3826906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/>
            </a:pPr>
            <a:r>
              <a:rPr lang="en-US" sz="1100" dirty="0"/>
              <a:t>    </a:t>
            </a:r>
            <a:r>
              <a:rPr sz="1100" dirty="0" err="1"/>
              <a:t>系统参数存储于内部Flash</a:t>
            </a:r>
            <a:r>
              <a:rPr sz="1100" dirty="0"/>
              <a:t> 0x08010000地址（4KB页），</a:t>
            </a:r>
            <a:r>
              <a:rPr sz="1100" dirty="0" err="1"/>
              <a:t>采用结构体</a:t>
            </a:r>
            <a:r>
              <a:rPr sz="1100" dirty="0"/>
              <a:t> </a:t>
            </a:r>
            <a:r>
              <a:rPr sz="1100" dirty="0" err="1"/>
              <a:t>flash_params_t</a:t>
            </a:r>
            <a:r>
              <a:rPr sz="1100" dirty="0"/>
              <a:t> </a:t>
            </a:r>
            <a:r>
              <a:rPr sz="1100" dirty="0" err="1"/>
              <a:t>统一管理</a:t>
            </a:r>
            <a:r>
              <a:rPr sz="1100" dirty="0"/>
              <a:t>。</a:t>
            </a:r>
            <a:endParaRPr sz="1100" dirty="0"/>
          </a:p>
          <a:p>
            <a:pPr>
              <a:spcAft>
                <a:spcPts val="200"/>
              </a:spcAft>
              <a:defRPr sz="1000" b="0"/>
            </a:pPr>
            <a:r>
              <a:rPr lang="en-US" sz="1100" dirty="0"/>
              <a:t>     (1) </a:t>
            </a:r>
            <a:r>
              <a:rPr sz="1100" dirty="0"/>
              <a:t>magic字段（0x43494D43 = "CIMC"）</a:t>
            </a:r>
            <a:r>
              <a:rPr sz="1100" dirty="0" err="1"/>
              <a:t>用于标识参数区是否已初始化，首次上电或擦除后自动写入默认值</a:t>
            </a:r>
            <a:r>
              <a:rPr sz="1100" dirty="0"/>
              <a:t>。</a:t>
            </a:r>
            <a:endParaRPr sz="1100" dirty="0"/>
          </a:p>
          <a:p>
            <a:pPr>
              <a:spcAft>
                <a:spcPts val="200"/>
              </a:spcAft>
              <a:defRPr sz="1000" b="0"/>
            </a:pPr>
            <a:r>
              <a:rPr lang="en-US" sz="1100" dirty="0"/>
              <a:t>    (2)</a:t>
            </a:r>
            <a:r>
              <a:rPr sz="1100" dirty="0"/>
              <a:t> CRC32校验覆盖前28字节，加载时双重校验（magic + CRC32），</a:t>
            </a:r>
            <a:r>
              <a:rPr sz="1100" dirty="0" err="1"/>
              <a:t>任一失败则使用默认参数，确保系统始终可用</a:t>
            </a:r>
            <a:r>
              <a:rPr sz="1100" dirty="0"/>
              <a:t>。</a:t>
            </a:r>
            <a:endParaRPr sz="1100" dirty="0"/>
          </a:p>
          <a:p>
            <a:pPr>
              <a:spcAft>
                <a:spcPts val="200"/>
              </a:spcAft>
              <a:defRPr sz="1000" b="0"/>
            </a:pPr>
            <a:r>
              <a:rPr lang="en-US" sz="1100" dirty="0"/>
              <a:t>     (3)</a:t>
            </a:r>
            <a:r>
              <a:rPr sz="1100" dirty="0"/>
              <a:t> </a:t>
            </a:r>
            <a:r>
              <a:rPr sz="1100" dirty="0" err="1"/>
              <a:t>所有可配置参数（变比、阈值、设备ID、波特率、告警模式）均支持掉电持久化，修改后立即保存</a:t>
            </a:r>
            <a:r>
              <a:rPr sz="1100" dirty="0"/>
              <a:t>。</a:t>
            </a:r>
            <a:endParaRPr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317355" y="3162961"/>
            <a:ext cx="864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 dirty="0"/>
              <a:t>2、参数读写流程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263059" y="4844187"/>
            <a:ext cx="28538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3、告警管理机制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1127" y="4996500"/>
            <a:ext cx="5282206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/>
            </a:pPr>
            <a:r>
              <a:rPr lang="zh-CN" altLang="en-US" dirty="0"/>
              <a:t>系统支持两种告警模式（主动上报与被动存储），通过 </a:t>
            </a:r>
            <a:r>
              <a:rPr lang="en-US" altLang="zh-CN" dirty="0"/>
              <a:t>CMD_SET_ALARM_MODE </a:t>
            </a:r>
            <a:r>
              <a:rPr lang="zh-CN" altLang="en-US" dirty="0"/>
              <a:t>指令切换，参数持久化保存。具体的机制如下：</a:t>
            </a:r>
            <a:endParaRPr lang="en-US" altLang="zh-CN" dirty="0"/>
          </a:p>
          <a:p>
            <a:pPr>
              <a:spcAft>
                <a:spcPts val="200"/>
              </a:spcAft>
              <a:defRPr sz="1000" b="0"/>
            </a:pPr>
            <a:r>
              <a:rPr lang="zh-CN" altLang="en-US" b="1" dirty="0"/>
              <a:t>存储机制：</a:t>
            </a:r>
            <a:r>
              <a:rPr lang="zh-CN" altLang="en-US" dirty="0"/>
              <a:t>均采用环形缓冲区（</a:t>
            </a:r>
            <a:r>
              <a:rPr lang="en-US" altLang="zh-CN" dirty="0"/>
              <a:t>FIFO</a:t>
            </a:r>
            <a:r>
              <a:rPr lang="zh-CN" altLang="en-US" dirty="0"/>
              <a:t>）管理，最多可存储 </a:t>
            </a:r>
            <a:r>
              <a:rPr lang="en-US" altLang="zh-CN" dirty="0"/>
              <a:t>10 </a:t>
            </a:r>
            <a:r>
              <a:rPr lang="zh-CN" altLang="en-US" dirty="0"/>
              <a:t>条告警记录，并支持对记录进行查询和清除。</a:t>
            </a:r>
            <a:endParaRPr lang="en-US" altLang="zh-CN" dirty="0"/>
          </a:p>
          <a:p>
            <a:pPr>
              <a:spcAft>
                <a:spcPts val="200"/>
              </a:spcAft>
              <a:defRPr sz="1000" b="0"/>
            </a:pPr>
            <a:r>
              <a:rPr lang="en-US" altLang="zh-CN" b="1" dirty="0"/>
              <a:t>0x01 </a:t>
            </a:r>
            <a:r>
              <a:rPr lang="zh-CN" altLang="en-US" b="1" dirty="0"/>
              <a:t>主动上报模式</a:t>
            </a:r>
            <a:r>
              <a:rPr lang="zh-CN" altLang="en-US" dirty="0"/>
              <a:t>：当数据超过阈值时，系统会立即输出告警字符串，格式为“时间 </a:t>
            </a:r>
            <a:r>
              <a:rPr lang="en-US" altLang="zh-CN" dirty="0"/>
              <a:t>| </a:t>
            </a:r>
            <a:r>
              <a:rPr lang="zh-CN" altLang="en-US" dirty="0"/>
              <a:t>通道 </a:t>
            </a:r>
            <a:r>
              <a:rPr lang="en-US" altLang="zh-CN" dirty="0"/>
              <a:t>| </a:t>
            </a:r>
            <a:r>
              <a:rPr lang="zh-CN" altLang="en-US" dirty="0"/>
              <a:t>阈值 </a:t>
            </a:r>
            <a:r>
              <a:rPr lang="en-US" altLang="zh-CN" dirty="0"/>
              <a:t>| </a:t>
            </a:r>
            <a:r>
              <a:rPr lang="zh-CN" altLang="en-US" dirty="0"/>
              <a:t>实际值”。</a:t>
            </a:r>
            <a:endParaRPr lang="en-US" altLang="zh-CN" dirty="0"/>
          </a:p>
          <a:p>
            <a:pPr>
              <a:spcAft>
                <a:spcPts val="200"/>
              </a:spcAft>
              <a:defRPr sz="1000" b="0"/>
            </a:pPr>
            <a:r>
              <a:rPr lang="en-US" altLang="zh-CN" b="1" dirty="0"/>
              <a:t>0x02 </a:t>
            </a:r>
            <a:r>
              <a:rPr lang="zh-CN" altLang="en-US" b="1" dirty="0"/>
              <a:t>被动存储模式</a:t>
            </a:r>
            <a:r>
              <a:rPr lang="zh-CN" altLang="en-US" dirty="0"/>
              <a:t>：当数据超过阈值时，系统仅将告警信息记录在缓冲区内，不会主动对外发送。</a:t>
            </a:r>
            <a:endParaRPr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9973" y="1555354"/>
            <a:ext cx="2982133" cy="293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/>
              <a:t>1、Bootloader + APP </a:t>
            </a:r>
            <a:r>
              <a:rPr dirty="0" err="1"/>
              <a:t>双区架构设计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66914" y="1784487"/>
          <a:ext cx="5441972" cy="4506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493"/>
                <a:gridCol w="1360493"/>
                <a:gridCol w="1360493"/>
                <a:gridCol w="1360493"/>
              </a:tblGrid>
              <a:tr h="51781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分区</a:t>
                      </a:r>
                      <a:endParaRPr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起始地址</a:t>
                      </a:r>
                      <a:endParaRPr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大小</a:t>
                      </a:r>
                      <a:endParaRPr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功能说明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1007453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Bootloader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dirty="0"/>
                        <a:t>0x08000000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64KB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引导程序，检测升级标志，接收新固件写入APP区</a:t>
                      </a:r>
                    </a:p>
                  </a:txBody>
                  <a:tcPr anchor="ctr"/>
                </a:tc>
              </a:tr>
              <a:tr h="1007453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dirty="0" err="1"/>
                        <a:t>参数区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0x08010000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4KB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dirty="0" err="1"/>
                        <a:t>存储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flash_params_t（变比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阈值</a:t>
                      </a:r>
                      <a:r>
                        <a:rPr dirty="0"/>
                        <a:t>/ID/</a:t>
                      </a:r>
                      <a:r>
                        <a:rPr dirty="0" err="1"/>
                        <a:t>波特率</a:t>
                      </a:r>
                      <a:r>
                        <a:rPr dirty="0"/>
                        <a:t>/CRC32）</a:t>
                      </a:r>
                      <a:endParaRPr dirty="0"/>
                    </a:p>
                  </a:txBody>
                  <a:tcPr anchor="ctr"/>
                </a:tc>
              </a:tr>
              <a:tr h="751699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APP固件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dirty="0"/>
                        <a:t>0x08011000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128KB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dirty="0" err="1"/>
                        <a:t>应用程序主体，SCB</a:t>
                      </a:r>
                      <a:r>
                        <a:rPr dirty="0"/>
                        <a:t>-&gt;</a:t>
                      </a:r>
                      <a:r>
                        <a:rPr dirty="0" err="1"/>
                        <a:t>VTOR指向此地址</a:t>
                      </a:r>
                      <a:endParaRPr dirty="0"/>
                    </a:p>
                  </a:txBody>
                  <a:tcPr anchor="ctr"/>
                </a:tc>
              </a:tr>
              <a:tr h="738799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APP备份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0x08031000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128KB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dirty="0" err="1"/>
                        <a:t>固件备份区，用于安全回滚</a:t>
                      </a:r>
                      <a:endParaRPr dirty="0"/>
                    </a:p>
                  </a:txBody>
                  <a:tcPr anchor="ctr"/>
                </a:tc>
              </a:tr>
              <a:tr h="483293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下载缓冲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0x08051000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128KB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dirty="0" err="1"/>
                        <a:t>OTA下载临时存储区</a:t>
                      </a:r>
                      <a:endParaRPr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6454" y="1974932"/>
            <a:ext cx="51942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/>
            </a:pPr>
            <a:r>
              <a:rPr dirty="0" err="1"/>
              <a:t>双区架构关键设计</a:t>
            </a:r>
            <a:r>
              <a:rPr dirty="0"/>
              <a:t>：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(1)</a:t>
            </a:r>
            <a:r>
              <a:rPr dirty="0"/>
              <a:t> </a:t>
            </a:r>
            <a:r>
              <a:rPr lang="en-US" dirty="0"/>
              <a:t> </a:t>
            </a:r>
            <a:r>
              <a:rPr dirty="0" err="1"/>
              <a:t>APP启动时执行</a:t>
            </a:r>
            <a:r>
              <a:rPr dirty="0"/>
              <a:t> SCB-&gt;VTOR = 0x08011000 </a:t>
            </a:r>
            <a:r>
              <a:rPr dirty="0" err="1"/>
              <a:t>重定向中断向量表，随后</a:t>
            </a:r>
            <a:r>
              <a:rPr dirty="0"/>
              <a:t> __</a:t>
            </a:r>
            <a:r>
              <a:rPr dirty="0" err="1"/>
              <a:t>enable_irq</a:t>
            </a:r>
            <a:r>
              <a:rPr dirty="0"/>
              <a:t>() </a:t>
            </a:r>
            <a:r>
              <a:rPr dirty="0" err="1"/>
              <a:t>解锁全局中断</a:t>
            </a:r>
            <a:r>
              <a:rPr dirty="0"/>
              <a:t>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(2) </a:t>
            </a:r>
            <a:r>
              <a:rPr dirty="0"/>
              <a:t> </a:t>
            </a:r>
            <a:r>
              <a:rPr dirty="0" err="1"/>
              <a:t>OTA升级时，APP将升级标志</a:t>
            </a:r>
            <a:r>
              <a:rPr dirty="0"/>
              <a:t> 0x5AA5C33C </a:t>
            </a:r>
            <a:r>
              <a:rPr dirty="0" err="1"/>
              <a:t>写入参数区首地址，然后执行软件复位。Bootloader检测到标志后进入接收模式</a:t>
            </a:r>
            <a:r>
              <a:rPr dirty="0"/>
              <a:t>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(3) </a:t>
            </a:r>
            <a:r>
              <a:rPr dirty="0"/>
              <a:t> </a:t>
            </a:r>
            <a:r>
              <a:rPr dirty="0" err="1"/>
              <a:t>参数区采用</a:t>
            </a:r>
            <a:r>
              <a:rPr dirty="0"/>
              <a:t> magic(0x43494D43) + CRC32 </a:t>
            </a:r>
            <a:r>
              <a:rPr dirty="0" err="1"/>
              <a:t>双重校验，首次上电或损坏时自动使用默认值，确保系统始终可启动</a:t>
            </a:r>
            <a:r>
              <a:rPr dirty="0"/>
              <a:t>。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83114" y="3889724"/>
            <a:ext cx="86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/>
              <a:t>2、系统状态机设计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83093" y="5183668"/>
            <a:ext cx="54419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/>
            </a:pPr>
            <a:r>
              <a:rPr dirty="0" err="1"/>
              <a:t>系统运行时处于两种状态之一，通过</a:t>
            </a:r>
            <a:r>
              <a:rPr dirty="0"/>
              <a:t> </a:t>
            </a:r>
            <a:r>
              <a:rPr dirty="0" err="1"/>
              <a:t>g_auto_report_active</a:t>
            </a:r>
            <a:r>
              <a:rPr dirty="0"/>
              <a:t> </a:t>
            </a:r>
            <a:r>
              <a:rPr dirty="0" err="1"/>
              <a:t>标志位和</a:t>
            </a:r>
            <a:r>
              <a:rPr dirty="0"/>
              <a:t> </a:t>
            </a:r>
            <a:r>
              <a:rPr dirty="0" err="1"/>
              <a:t>g_sys_state</a:t>
            </a:r>
            <a:r>
              <a:rPr dirty="0"/>
              <a:t> </a:t>
            </a:r>
            <a:r>
              <a:rPr dirty="0" err="1"/>
              <a:t>枚举联合管理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14417" y="4396585"/>
            <a:ext cx="1980000" cy="648000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rPr dirty="0"/>
              <a:t>IDLE </a:t>
            </a:r>
            <a:r>
              <a:rPr dirty="0" err="1"/>
              <a:t>空闲状态</a:t>
            </a:r>
            <a:br>
              <a:rPr dirty="0"/>
            </a:br>
            <a:r>
              <a:rPr dirty="0" err="1"/>
              <a:t>g_auto_report_active</a:t>
            </a:r>
            <a:r>
              <a:rPr dirty="0"/>
              <a:t> = 0</a:t>
            </a:r>
            <a:br>
              <a:rPr dirty="0"/>
            </a:br>
            <a:r>
              <a:rPr dirty="0"/>
              <a:t>LED2熄灭 | OLED"IDLE"</a:t>
            </a:r>
            <a:br>
              <a:rPr dirty="0"/>
            </a:br>
            <a:r>
              <a:rPr dirty="0" err="1"/>
              <a:t>响应所有控制指令</a:t>
            </a:r>
            <a:endParaRPr dirty="0"/>
          </a:p>
        </p:txBody>
      </p:sp>
      <p:sp>
        <p:nvSpPr>
          <p:cNvPr id="9" name="Right Arrow 8"/>
          <p:cNvSpPr/>
          <p:nvPr/>
        </p:nvSpPr>
        <p:spPr>
          <a:xfrm>
            <a:off x="2430417" y="4612585"/>
            <a:ext cx="468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4417" y="4468585"/>
            <a:ext cx="54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KEY0/ON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4417" y="4864585"/>
            <a:ext cx="54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KEY0/OFF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4417" y="4396585"/>
            <a:ext cx="1980000" cy="648000"/>
          </a:xfrm>
          <a:prstGeom prst="roundRect">
            <a:avLst/>
          </a:prstGeom>
          <a:solidFill>
            <a:srgbClr val="ED7D31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rPr dirty="0" err="1"/>
              <a:t>AutoSample</a:t>
            </a:r>
            <a:r>
              <a:rPr dirty="0"/>
              <a:t> </a:t>
            </a:r>
            <a:r>
              <a:rPr dirty="0" err="1"/>
              <a:t>自动采样</a:t>
            </a:r>
            <a:br>
              <a:rPr dirty="0"/>
            </a:br>
            <a:r>
              <a:rPr dirty="0" err="1"/>
              <a:t>g_auto_report_active</a:t>
            </a:r>
            <a:r>
              <a:rPr dirty="0"/>
              <a:t> = 1</a:t>
            </a:r>
            <a:br>
              <a:rPr dirty="0"/>
            </a:br>
            <a:r>
              <a:rPr dirty="0"/>
              <a:t>LED2常亮 | </a:t>
            </a:r>
            <a:r>
              <a:rPr dirty="0" err="1"/>
              <a:t>OLED"AutoSample</a:t>
            </a:r>
            <a:r>
              <a:rPr dirty="0"/>
              <a:t>"</a:t>
            </a:r>
            <a:br>
              <a:rPr dirty="0"/>
            </a:br>
            <a:r>
              <a:rPr dirty="0" err="1"/>
              <a:t>屏蔽非停止指令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383543" y="5526400"/>
            <a:ext cx="63927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/>
            </a:pPr>
            <a:r>
              <a:rPr dirty="0" err="1"/>
              <a:t>状态联动</a:t>
            </a:r>
            <a:r>
              <a:rPr dirty="0"/>
              <a:t>：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dirty="0"/>
              <a:t> </a:t>
            </a:r>
            <a:r>
              <a:rPr lang="en-US" dirty="0"/>
              <a:t>   </a:t>
            </a:r>
            <a:r>
              <a:rPr dirty="0"/>
              <a:t>IDLE→AutoSample：KEY0按下或CMD_RPT_ON，置位标志，LED2常亮，OLED切换，启动周期上报。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 </a:t>
            </a:r>
            <a:r>
              <a:rPr dirty="0"/>
              <a:t> AutoSample→IDLE：KEY0按下或CMD_RPT_OFF，清零标志，LED2熄灭，OLED恢复，停止上报。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 </a:t>
            </a:r>
            <a:r>
              <a:rPr dirty="0"/>
              <a:t> </a:t>
            </a:r>
            <a:r>
              <a:rPr dirty="0" err="1"/>
              <a:t>指令屏蔽：AutoSample下除CMD_RPT_OFF外所有控制指令被handler_dispatch</a:t>
            </a:r>
            <a:r>
              <a:rPr dirty="0"/>
              <a:t>()</a:t>
            </a:r>
            <a:r>
              <a:rPr dirty="0" err="1"/>
              <a:t>丢弃，防止干扰采集</a:t>
            </a:r>
            <a:r>
              <a:rPr dirty="0"/>
              <a:t>。</a:t>
            </a:r>
            <a:endParaRPr dirty="0"/>
          </a:p>
        </p:txBody>
      </p:sp>
      <p:grpSp>
        <p:nvGrpSpPr>
          <p:cNvPr id="16" name="组合 15"/>
          <p:cNvGrpSpPr/>
          <p:nvPr/>
        </p:nvGrpSpPr>
        <p:grpSpPr>
          <a:xfrm>
            <a:off x="0" y="567002"/>
            <a:ext cx="8855507" cy="871592"/>
            <a:chOff x="0" y="567002"/>
            <a:chExt cx="8855507" cy="871592"/>
          </a:xfrm>
        </p:grpSpPr>
        <p:sp>
          <p:nvSpPr>
            <p:cNvPr id="17" name="圆角矩形 2"/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第三部分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综合系统设计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8333" y="185341"/>
            <a:ext cx="272382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 err="1"/>
              <a:t>函数调用架构与模块协作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28333" y="554673"/>
            <a:ext cx="86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rPr sz="1200" dirty="0" err="1"/>
              <a:t>将各个单元封装成不同的函数，从主函数</a:t>
            </a:r>
            <a:r>
              <a:rPr sz="1200" dirty="0"/>
              <a:t> main() </a:t>
            </a:r>
            <a:r>
              <a:rPr sz="1200" dirty="0" err="1"/>
              <a:t>和串口中断</a:t>
            </a:r>
            <a:r>
              <a:rPr sz="1200" dirty="0"/>
              <a:t> USART1_IRQHandler() </a:t>
            </a:r>
            <a:r>
              <a:rPr sz="1200" dirty="0" err="1"/>
              <a:t>中进行调用，逻辑如下图所示</a:t>
            </a:r>
            <a:r>
              <a:rPr sz="1200" dirty="0"/>
              <a:t>：</a:t>
            </a:r>
            <a:endParaRPr sz="1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3768" y="890906"/>
          <a:ext cx="5437468" cy="1274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734"/>
                <a:gridCol w="2718734"/>
              </a:tblGrid>
              <a:tr h="2888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入口：main</a:t>
                      </a:r>
                      <a:r>
                        <a:rPr dirty="0"/>
                        <a:t>()</a:t>
                      </a:r>
                      <a:endParaRPr dirty="0"/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入口：USART1_IRQHandler()</a:t>
                      </a:r>
                      <a:endParaRPr dirty="0"/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713547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/>
                        <a:t>① SCB-&gt;VTOR = 0x08011000 (</a:t>
                      </a:r>
                      <a:r>
                        <a:rPr dirty="0" err="1"/>
                        <a:t>向量表重定向</a:t>
                      </a:r>
                      <a:r>
                        <a:rPr dirty="0"/>
                        <a:t>)</a:t>
                      </a:r>
                      <a:endParaRPr dirty="0"/>
                    </a:p>
                    <a:p>
                      <a:pPr algn="l">
                        <a:defRPr sz="900" b="0"/>
                      </a:pPr>
                      <a:r>
                        <a:rPr dirty="0"/>
                        <a:t>② __</a:t>
                      </a:r>
                      <a:r>
                        <a:rPr dirty="0" err="1"/>
                        <a:t>enable_irq</a:t>
                      </a:r>
                      <a:r>
                        <a:rPr dirty="0"/>
                        <a:t>() (</a:t>
                      </a:r>
                      <a:r>
                        <a:rPr dirty="0" err="1"/>
                        <a:t>解锁中断</a:t>
                      </a:r>
                      <a:r>
                        <a:rPr dirty="0"/>
                        <a:t>)</a:t>
                      </a:r>
                      <a:endParaRPr dirty="0"/>
                    </a:p>
                    <a:p>
                      <a:pPr algn="l">
                        <a:defRPr sz="900" b="0"/>
                      </a:pPr>
                      <a:r>
                        <a:rPr dirty="0"/>
                        <a:t>③ </a:t>
                      </a:r>
                      <a:r>
                        <a:rPr dirty="0" err="1"/>
                        <a:t>System_Init</a:t>
                      </a:r>
                      <a:r>
                        <a:rPr dirty="0"/>
                        <a:t>() (</a:t>
                      </a:r>
                      <a:r>
                        <a:rPr dirty="0" err="1"/>
                        <a:t>硬件初始化</a:t>
                      </a:r>
                      <a:r>
                        <a:rPr dirty="0"/>
                        <a:t>)</a:t>
                      </a:r>
                      <a:endParaRPr dirty="0"/>
                    </a:p>
                    <a:p>
                      <a:pPr algn="l">
                        <a:defRPr sz="900" b="0"/>
                      </a:pPr>
                      <a:r>
                        <a:rPr dirty="0"/>
                        <a:t>④ </a:t>
                      </a:r>
                      <a:r>
                        <a:rPr dirty="0" err="1"/>
                        <a:t>handler_system_init</a:t>
                      </a:r>
                      <a:r>
                        <a:rPr dirty="0"/>
                        <a:t>() (</a:t>
                      </a:r>
                      <a:r>
                        <a:rPr dirty="0" err="1"/>
                        <a:t>参数加载+HART广播</a:t>
                      </a:r>
                      <a:r>
                        <a:rPr dirty="0"/>
                        <a:t>)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/>
                        <a:t>① </a:t>
                      </a:r>
                      <a:r>
                        <a:rPr dirty="0" err="1"/>
                        <a:t>recv_real_buf</a:t>
                      </a:r>
                      <a:r>
                        <a:rPr dirty="0"/>
                        <a:t>[</a:t>
                      </a:r>
                      <a:r>
                        <a:rPr dirty="0" err="1"/>
                        <a:t>len</a:t>
                      </a:r>
                      <a:r>
                        <a:rPr dirty="0"/>
                        <a:t>++] = byte (</a:t>
                      </a:r>
                      <a:r>
                        <a:rPr dirty="0" err="1"/>
                        <a:t>逐字节接收</a:t>
                      </a:r>
                      <a:r>
                        <a:rPr dirty="0"/>
                        <a:t>)</a:t>
                      </a:r>
                      <a:endParaRPr dirty="0"/>
                    </a:p>
                    <a:p>
                      <a:pPr algn="l">
                        <a:defRPr sz="900" b="0"/>
                      </a:pPr>
                      <a:r>
                        <a:rPr dirty="0"/>
                        <a:t>② LED2_TOGGLE() (</a:t>
                      </a:r>
                      <a:r>
                        <a:rPr dirty="0" err="1"/>
                        <a:t>接收指示灯翻转</a:t>
                      </a:r>
                      <a:r>
                        <a:rPr dirty="0"/>
                        <a:t>)</a:t>
                      </a:r>
                      <a:endParaRPr dirty="0"/>
                    </a:p>
                    <a:p>
                      <a:pPr algn="l">
                        <a:defRPr sz="900" b="0"/>
                      </a:pPr>
                      <a:r>
                        <a:rPr dirty="0"/>
                        <a:t>③ </a:t>
                      </a:r>
                      <a:r>
                        <a:rPr dirty="0" err="1"/>
                        <a:t>中断写入缓冲区，主循环中解析</a:t>
                      </a:r>
                      <a:endParaRPr dirty="0"/>
                    </a:p>
                  </a:txBody>
                  <a:tcPr anchor="ctr"/>
                </a:tc>
              </a:tr>
              <a:tr h="27182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→ </a:t>
                      </a:r>
                      <a:r>
                        <a:rPr dirty="0" err="1"/>
                        <a:t>调用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UsrFunction</a:t>
                      </a:r>
                      <a:r>
                        <a:rPr dirty="0"/>
                        <a:t>() </a:t>
                      </a:r>
                      <a:r>
                        <a:rPr dirty="0" err="1"/>
                        <a:t>进入主循环</a:t>
                      </a:r>
                      <a:endParaRPr dirty="0"/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→ </a:t>
                      </a:r>
                      <a:r>
                        <a:rPr dirty="0" err="1"/>
                        <a:t>数据由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usart_recv_buf</a:t>
                      </a:r>
                      <a:r>
                        <a:rPr dirty="0"/>
                        <a:t>() </a:t>
                      </a:r>
                      <a:r>
                        <a:rPr dirty="0" err="1"/>
                        <a:t>在主循环中解析</a:t>
                      </a:r>
                      <a:endParaRPr dirty="0"/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43768" y="2631682"/>
          <a:ext cx="5437468" cy="18926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367"/>
                <a:gridCol w="1359367"/>
                <a:gridCol w="1359367"/>
                <a:gridCol w="1359367"/>
              </a:tblGrid>
              <a:tr h="27037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主循环模块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函数名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功能说明</a:t>
                      </a:r>
                      <a:endParaRPr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执行条件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405563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 err="1"/>
                        <a:t>协议接收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 err="1"/>
                        <a:t>usart_recv_buf</a:t>
                      </a:r>
                      <a:r>
                        <a:rPr dirty="0"/>
                        <a:t>()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帧头/CRC/帧尾校验 → handler_dispatch()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 err="1"/>
                        <a:t>每轮循环</a:t>
                      </a:r>
                      <a:endParaRPr dirty="0"/>
                    </a:p>
                  </a:txBody>
                  <a:tcPr anchor="ctr"/>
                </a:tc>
              </a:tr>
              <a:tr h="405563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数据采集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adc_gather()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/>
                        <a:t>20次硬件平均 + 5点滑动平均 → temp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每轮循环</a:t>
                      </a:r>
                    </a:p>
                  </a:txBody>
                  <a:tcPr anchor="ctr"/>
                </a:tc>
              </a:tr>
              <a:tr h="405563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DAC跟踪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DAC_Follow_ADC()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/>
                        <a:t>CH0采样值 × ratio → </a:t>
                      </a:r>
                      <a:r>
                        <a:rPr dirty="0" err="1"/>
                        <a:t>DAC引脚输出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enable=1</a:t>
                      </a:r>
                    </a:p>
                  </a:txBody>
                  <a:tcPr anchor="ctr"/>
                </a:tc>
              </a:tr>
              <a:tr h="405563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自动上报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auto_report_send()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UTC(4B)+CH0(4B)+CH1(4B)=12字节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/>
                        <a:t>active=1</a:t>
                      </a:r>
                      <a:endParaRPr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43768" y="4990895"/>
          <a:ext cx="5437468" cy="1748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367"/>
                <a:gridCol w="1359367"/>
                <a:gridCol w="1359367"/>
                <a:gridCol w="1359367"/>
              </a:tblGrid>
              <a:tr h="24979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主循环模块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函数名</a:t>
                      </a:r>
                      <a:endParaRPr dirty="0"/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功能说明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执行条件</a:t>
                      </a:r>
                      <a:endParaRPr dirty="0"/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</a:tr>
              <a:tr h="374694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告警检测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handler_alarm_check()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 err="1"/>
                        <a:t>超限检测</a:t>
                      </a:r>
                      <a:r>
                        <a:rPr dirty="0"/>
                        <a:t> → </a:t>
                      </a:r>
                      <a:r>
                        <a:rPr dirty="0" err="1"/>
                        <a:t>环形缓冲区bj</a:t>
                      </a:r>
                      <a:r>
                        <a:rPr dirty="0"/>
                        <a:t>[10]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 err="1"/>
                        <a:t>alarm_mode</a:t>
                      </a:r>
                      <a:r>
                        <a:rPr dirty="0"/>
                        <a:t>!=0</a:t>
                      </a:r>
                      <a:endParaRPr dirty="0"/>
                    </a:p>
                  </a:txBody>
                  <a:tcPr anchor="ctr"/>
                </a:tc>
              </a:tr>
              <a:tr h="374694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OLED显示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oled_update_status()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首行编号 次行AutoSample/IDLE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/>
                        <a:t>每1000ms</a:t>
                      </a:r>
                      <a:endParaRPr dirty="0"/>
                    </a:p>
                  </a:txBody>
                  <a:tcPr anchor="ctr"/>
                </a:tc>
              </a:tr>
              <a:tr h="374694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LED控制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LED1_TOGGLE()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500ms心跳 | LED2指示上报状态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500ms</a:t>
                      </a:r>
                    </a:p>
                  </a:txBody>
                  <a:tcPr anchor="ctr"/>
                </a:tc>
              </a:tr>
              <a:tr h="374694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按键处理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 err="1"/>
                        <a:t>KEY_Event_Get</a:t>
                      </a:r>
                      <a:r>
                        <a:rPr dirty="0"/>
                        <a:t>()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事件队列：KEY0切换上报开关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 err="1"/>
                        <a:t>按键触发</a:t>
                      </a:r>
                      <a:endParaRPr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11767" y="4314291"/>
          <a:ext cx="5437467" cy="2425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2489"/>
                <a:gridCol w="1812489"/>
                <a:gridCol w="1812489"/>
              </a:tblGrid>
              <a:tr h="2487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命令类别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处理函数</a:t>
                      </a:r>
                      <a:endParaRPr dirty="0"/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功能说明</a:t>
                      </a:r>
                      <a:endParaRPr dirty="0"/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</a:tr>
              <a:tr h="342012"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rPr dirty="0" err="1"/>
                        <a:t>系统管理</a:t>
                      </a:r>
                      <a:r>
                        <a:rPr dirty="0"/>
                        <a:t>(0x01xx)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h_reboot / h_query_ver / h_set_time / h_set_did / h_set_baud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重启/版本/时间/ID/波特率</a:t>
                      </a:r>
                    </a:p>
                  </a:txBody>
                  <a:tcPr anchor="ctr"/>
                </a:tc>
              </a:tr>
              <a:tr h="342012"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rPr dirty="0" err="1"/>
                        <a:t>数据采集</a:t>
                      </a:r>
                      <a:r>
                        <a:rPr dirty="0"/>
                        <a:t>(0x02xx)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h_query_ch0/ch1/ch2 / h_set_ratio / h_set_interval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查CH0~CH2/变比/间隔</a:t>
                      </a:r>
                    </a:p>
                  </a:txBody>
                  <a:tcPr anchor="ctr"/>
                </a:tc>
              </a:tr>
              <a:tr h="342012"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控制类(0x03xx)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h_set_dac / h_rpt_start / h_rpt_stop / h_sleep / h_upgrade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rPr dirty="0"/>
                        <a:t>DAC/</a:t>
                      </a:r>
                      <a:r>
                        <a:rPr dirty="0" err="1"/>
                        <a:t>上报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睡眠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升级</a:t>
                      </a:r>
                      <a:endParaRPr dirty="0"/>
                    </a:p>
                  </a:txBody>
                  <a:tcPr anchor="ctr"/>
                </a:tc>
              </a:tr>
              <a:tr h="342012"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rPr dirty="0" err="1"/>
                        <a:t>参数配置</a:t>
                      </a:r>
                      <a:r>
                        <a:rPr dirty="0"/>
                        <a:t>(0x04xx)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h_set_threshold_ch0/ch1 / h_read_threshold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读写告警阈值</a:t>
                      </a:r>
                    </a:p>
                  </a:txBody>
                  <a:tcPr anchor="ctr"/>
                </a:tc>
              </a:tr>
              <a:tr h="466380"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系统升级(0x05xx)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h_upgrade_request / h_upgrade_prepare / h_upgrade_execute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OTA三步流程</a:t>
                      </a:r>
                    </a:p>
                  </a:txBody>
                  <a:tcPr anchor="ctr"/>
                </a:tc>
              </a:tr>
              <a:tr h="342012"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t>告警管理(0x06xx)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rPr dirty="0" err="1"/>
                        <a:t>h_set_alarm_mode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h_query_alarm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h_clear_alarm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/>
                      </a:pPr>
                      <a:r>
                        <a:rPr dirty="0" err="1"/>
                        <a:t>设模式</a:t>
                      </a:r>
                      <a:r>
                        <a:rPr dirty="0"/>
                        <a:t>/查/</a:t>
                      </a:r>
                      <a:r>
                        <a:rPr dirty="0" err="1"/>
                        <a:t>清告警</a:t>
                      </a:r>
                      <a:endParaRPr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11766" y="1112925"/>
          <a:ext cx="5437468" cy="2514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734"/>
                <a:gridCol w="2718734"/>
              </a:tblGrid>
              <a:tr h="5294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基础设施函数</a:t>
                      </a:r>
                      <a:endParaRPr dirty="0"/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功能说明</a:t>
                      </a:r>
                      <a:endParaRPr dirty="0"/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</a:tr>
              <a:tr h="496347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protocol_send_reply/error()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帧打包 + CRC16计算 + USART发送</a:t>
                      </a:r>
                    </a:p>
                  </a:txBody>
                  <a:tcPr anchor="ctr"/>
                </a:tc>
              </a:tr>
              <a:tr h="496347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 err="1"/>
                        <a:t>handler_params_load</a:t>
                      </a:r>
                      <a:r>
                        <a:rPr dirty="0"/>
                        <a:t>/save()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Flash参数读写 + magic + CRC32校验</a:t>
                      </a:r>
                    </a:p>
                  </a:txBody>
                  <a:tcPr anchor="ctr"/>
                </a:tc>
              </a:tr>
              <a:tr h="496347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rtc_get_timestamp() / utc_to_rtc()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RTC时间读取 + BCD与UTC互转</a:t>
                      </a:r>
                    </a:p>
                  </a:txBody>
                  <a:tcPr anchor="ctr"/>
                </a:tc>
              </a:tr>
              <a:tr h="496347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fmc_iap_erase/write/reset()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rPr dirty="0" err="1"/>
                        <a:t>Flash页擦除</a:t>
                      </a:r>
                      <a:r>
                        <a:rPr dirty="0"/>
                        <a:t> + </a:t>
                      </a:r>
                      <a:r>
                        <a:rPr dirty="0" err="1"/>
                        <a:t>字写入</a:t>
                      </a:r>
                      <a:r>
                        <a:rPr dirty="0"/>
                        <a:t> + </a:t>
                      </a:r>
                      <a:r>
                        <a:rPr dirty="0" err="1"/>
                        <a:t>软件复位</a:t>
                      </a:r>
                      <a:endParaRPr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2" name="Down Arrow 21"/>
          <p:cNvSpPr/>
          <p:nvPr/>
        </p:nvSpPr>
        <p:spPr>
          <a:xfrm rot="16200000">
            <a:off x="6089941" y="5509071"/>
            <a:ext cx="301002" cy="288884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21"/>
          <p:cNvSpPr/>
          <p:nvPr/>
        </p:nvSpPr>
        <p:spPr>
          <a:xfrm rot="10800000">
            <a:off x="9179999" y="3826578"/>
            <a:ext cx="301002" cy="288884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21"/>
          <p:cNvSpPr/>
          <p:nvPr/>
        </p:nvSpPr>
        <p:spPr>
          <a:xfrm>
            <a:off x="2901655" y="2284097"/>
            <a:ext cx="301002" cy="288884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21"/>
          <p:cNvSpPr/>
          <p:nvPr/>
        </p:nvSpPr>
        <p:spPr>
          <a:xfrm>
            <a:off x="2901655" y="4613160"/>
            <a:ext cx="301002" cy="288884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tx1"/>
                </a:solidFill>
              </a:rPr>
              <a:t>系统总体分析设计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5303520" cy="5486400"/>
          </a:xfrm>
          <a:prstGeom prst="roundRect">
            <a:avLst/>
          </a:prstGeom>
          <a:solidFill>
            <a:srgbClr val="F0F8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tx1"/>
                </a:solidFill>
              </a:rPr>
              <a:t>一、需求分析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6097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96"/>
                </a:solidFill>
              </a:defRPr>
            </a:pPr>
            <a:r>
              <a:rPr dirty="0">
                <a:solidFill>
                  <a:schemeClr val="tx1"/>
                </a:solidFill>
              </a:rPr>
              <a:t>(一) </a:t>
            </a:r>
            <a:r>
              <a:rPr dirty="0" err="1">
                <a:solidFill>
                  <a:schemeClr val="tx1"/>
                </a:solidFill>
              </a:rPr>
              <a:t>电源供电需求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t>• 支持12V~36V宽电压输入，输出稳定5V/2A</a:t>
            </a:r>
          </a:p>
          <a:p>
            <a:pPr>
              <a:spcAft>
                <a:spcPts val="400"/>
              </a:spcAft>
              <a:defRPr sz="1100"/>
            </a:pPr>
            <a:r>
              <a:t>• 采用GD30DC1354同步降压，集成防反接保护</a:t>
            </a:r>
          </a:p>
          <a:p>
            <a:pPr>
              <a:spcAft>
                <a:spcPts val="400"/>
              </a:spcAft>
              <a:defRPr sz="1100"/>
            </a:pPr>
            <a:r>
              <a:t>• 多级滤波网络+电流测量接口，纹波&lt;50mV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1114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96"/>
                </a:solidFill>
              </a:defRPr>
            </a:pPr>
            <a:r>
              <a:rPr dirty="0">
                <a:solidFill>
                  <a:schemeClr val="tx1"/>
                </a:solidFill>
              </a:rPr>
              <a:t>(二) PT100温度采样需求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t>• 四线制开尔文连接，消除引线电阻误差</a:t>
            </a:r>
          </a:p>
          <a:p>
            <a:pPr>
              <a:spcAft>
                <a:spcPts val="400"/>
              </a:spcAft>
              <a:defRPr sz="1100"/>
            </a:pPr>
            <a:r>
              <a:t>• REF3040+TLV333构成1mA精密恒流源</a:t>
            </a:r>
          </a:p>
          <a:p>
            <a:pPr>
              <a:spcAft>
                <a:spcPts val="400"/>
              </a:spcAft>
              <a:defRPr sz="1100"/>
            </a:pPr>
            <a:r>
              <a:t>• INA333增益26倍+24位ADC高精度转换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6097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96"/>
                </a:solidFill>
              </a:defRPr>
            </a:pPr>
            <a:r>
              <a:rPr dirty="0">
                <a:solidFill>
                  <a:schemeClr val="tx1"/>
                </a:solidFill>
              </a:rPr>
              <a:t>(三) </a:t>
            </a:r>
            <a:r>
              <a:rPr dirty="0" err="1">
                <a:solidFill>
                  <a:schemeClr val="tx1"/>
                </a:solidFill>
              </a:rPr>
              <a:t>软件功能需求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t>• 分层架构：Driver/Protocol/Function三层解耦</a:t>
            </a:r>
          </a:p>
          <a:p>
            <a:pPr>
              <a:spcAft>
                <a:spcPts val="400"/>
              </a:spcAft>
              <a:defRPr sz="1100"/>
            </a:pPr>
            <a:r>
              <a:t>• 三通道采集+通信协议+CRC-16-Modbus校验</a:t>
            </a:r>
          </a:p>
          <a:p>
            <a:pPr>
              <a:spcAft>
                <a:spcPts val="400"/>
              </a:spcAft>
              <a:defRPr sz="1100"/>
            </a:pPr>
            <a:r>
              <a:t>• RTC低功耗唤醒+256字节切片OTA固件升级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914400"/>
            <a:ext cx="182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tx1"/>
                </a:solidFill>
              </a:rPr>
              <a:t>二、硬件总体架构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1645920" cy="731520"/>
          </a:xfrm>
          <a:prstGeom prst="roundRect">
            <a:avLst/>
          </a:prstGeom>
          <a:solidFill>
            <a:srgbClr val="0064C8"/>
          </a:solidFill>
          <a:ln>
            <a:solidFill>
              <a:srgbClr val="00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GD32F470</a:t>
            </a:r>
            <a:br>
              <a:rPr dirty="0"/>
            </a:br>
            <a:r>
              <a:rPr dirty="0" err="1"/>
              <a:t>主控MCU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1463040" cy="640080"/>
          </a:xfrm>
          <a:prstGeom prst="roundRect">
            <a:avLst/>
          </a:prstGeom>
          <a:solidFill>
            <a:srgbClr val="DCEB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/>
            </a:pPr>
            <a:r>
              <a:rPr dirty="0" err="1">
                <a:solidFill>
                  <a:schemeClr val="tx1"/>
                </a:solidFill>
              </a:rPr>
              <a:t>电源模块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GD30DC1354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058400" y="1554480"/>
            <a:ext cx="1463040" cy="640080"/>
          </a:xfrm>
          <a:prstGeom prst="roundRect">
            <a:avLst/>
          </a:prstGeom>
          <a:solidFill>
            <a:srgbClr val="DCEB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PT100采样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INA333+ADC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058400" y="3200400"/>
            <a:ext cx="1463040" cy="640080"/>
          </a:xfrm>
          <a:prstGeom prst="roundRect">
            <a:avLst/>
          </a:prstGeom>
          <a:solidFill>
            <a:srgbClr val="DCEB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/>
            </a:pPr>
            <a:r>
              <a:rPr dirty="0" err="1">
                <a:solidFill>
                  <a:schemeClr val="tx1"/>
                </a:solidFill>
              </a:rPr>
              <a:t>模拟测试板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精密电阻阵列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0" y="3200400"/>
            <a:ext cx="1463040" cy="640080"/>
          </a:xfrm>
          <a:prstGeom prst="roundRect">
            <a:avLst/>
          </a:prstGeom>
          <a:solidFill>
            <a:srgbClr val="DCEB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/>
            </a:pPr>
            <a:r>
              <a:rPr dirty="0" err="1">
                <a:solidFill>
                  <a:schemeClr val="tx1"/>
                </a:solidFill>
              </a:rPr>
              <a:t>DAC输出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PA4回读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46720" y="4114800"/>
            <a:ext cx="1463040" cy="640080"/>
          </a:xfrm>
          <a:prstGeom prst="roundRect">
            <a:avLst/>
          </a:prstGeom>
          <a:solidFill>
            <a:srgbClr val="DCEB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RS485通信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USART1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46720" y="1279737"/>
            <a:ext cx="1463040" cy="640080"/>
          </a:xfrm>
          <a:prstGeom prst="roundRect">
            <a:avLst/>
          </a:prstGeom>
          <a:solidFill>
            <a:srgbClr val="DCEB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/>
            </a:pPr>
            <a:r>
              <a:rPr dirty="0" err="1">
                <a:solidFill>
                  <a:schemeClr val="tx1"/>
                </a:solidFill>
              </a:rPr>
              <a:t>人机交互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OLED+LED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406640" y="1828800"/>
            <a:ext cx="685800" cy="502709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601200" y="2011680"/>
            <a:ext cx="457199" cy="319829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9692640" y="2926080"/>
            <a:ext cx="365760" cy="5486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406640" y="2926080"/>
            <a:ext cx="640080" cy="5486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778240" y="3017520"/>
            <a:ext cx="0" cy="109728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0" y="4846320"/>
            <a:ext cx="182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tx1"/>
                </a:solidFill>
              </a:rPr>
              <a:t>三、软件分层架构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943600" y="5303520"/>
            <a:ext cx="5760720" cy="411480"/>
          </a:xfrm>
          <a:prstGeom prst="roundRect">
            <a:avLst/>
          </a:prstGeom>
          <a:solidFill>
            <a:srgbClr val="FFC8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/>
            </a:pPr>
            <a:r>
              <a:rPr dirty="0">
                <a:solidFill>
                  <a:schemeClr val="tx1"/>
                </a:solidFill>
              </a:rPr>
              <a:t>Function </a:t>
            </a:r>
            <a:r>
              <a:rPr dirty="0" err="1">
                <a:solidFill>
                  <a:schemeClr val="tx1"/>
                </a:solidFill>
              </a:rPr>
              <a:t>业务逻辑层：数据采集</a:t>
            </a:r>
            <a:r>
              <a:rPr dirty="0">
                <a:solidFill>
                  <a:schemeClr val="tx1"/>
                </a:solidFill>
              </a:rPr>
              <a:t>/</a:t>
            </a:r>
            <a:r>
              <a:rPr dirty="0" err="1">
                <a:solidFill>
                  <a:schemeClr val="tx1"/>
                </a:solidFill>
              </a:rPr>
              <a:t>变比计算</a:t>
            </a:r>
            <a:r>
              <a:rPr dirty="0">
                <a:solidFill>
                  <a:schemeClr val="tx1"/>
                </a:solidFill>
              </a:rPr>
              <a:t>/</a:t>
            </a:r>
            <a:r>
              <a:rPr dirty="0" err="1">
                <a:solidFill>
                  <a:schemeClr val="tx1"/>
                </a:solidFill>
              </a:rPr>
              <a:t>阈值告警</a:t>
            </a:r>
            <a:r>
              <a:rPr dirty="0">
                <a:solidFill>
                  <a:schemeClr val="tx1"/>
                </a:solidFill>
              </a:rPr>
              <a:t>/</a:t>
            </a:r>
            <a:r>
              <a:rPr dirty="0" err="1">
                <a:solidFill>
                  <a:schemeClr val="tx1"/>
                </a:solidFill>
              </a:rPr>
              <a:t>自动上报</a:t>
            </a:r>
            <a:r>
              <a:rPr dirty="0">
                <a:solidFill>
                  <a:schemeClr val="tx1"/>
                </a:solidFill>
              </a:rPr>
              <a:t>/</a:t>
            </a:r>
            <a:r>
              <a:rPr dirty="0" err="1">
                <a:solidFill>
                  <a:schemeClr val="tx1"/>
                </a:solidFill>
              </a:rPr>
              <a:t>低功耗</a:t>
            </a:r>
            <a:r>
              <a:rPr dirty="0">
                <a:solidFill>
                  <a:schemeClr val="tx1"/>
                </a:solidFill>
              </a:rPr>
              <a:t>/</a:t>
            </a:r>
            <a:r>
              <a:rPr dirty="0" err="1">
                <a:solidFill>
                  <a:schemeClr val="tx1"/>
                </a:solidFill>
              </a:rPr>
              <a:t>OTA升级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43600" y="5760720"/>
            <a:ext cx="5760720" cy="411480"/>
          </a:xfrm>
          <a:prstGeom prst="roundRect">
            <a:avLst/>
          </a:prstGeom>
          <a:solidFill>
            <a:srgbClr val="96DC9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/>
            </a:pPr>
            <a:r>
              <a:rPr dirty="0">
                <a:solidFill>
                  <a:schemeClr val="tx1"/>
                </a:solidFill>
              </a:rPr>
              <a:t>Protocol </a:t>
            </a:r>
            <a:r>
              <a:rPr dirty="0" err="1">
                <a:solidFill>
                  <a:schemeClr val="tx1"/>
                </a:solidFill>
              </a:rPr>
              <a:t>通信协议层：帧解析</a:t>
            </a:r>
            <a:r>
              <a:rPr dirty="0">
                <a:solidFill>
                  <a:schemeClr val="tx1"/>
                </a:solidFill>
              </a:rPr>
              <a:t>/</a:t>
            </a:r>
            <a:r>
              <a:rPr dirty="0" err="1">
                <a:solidFill>
                  <a:schemeClr val="tx1"/>
                </a:solidFill>
              </a:rPr>
              <a:t>应答组帧</a:t>
            </a:r>
            <a:r>
              <a:rPr dirty="0">
                <a:solidFill>
                  <a:schemeClr val="tx1"/>
                </a:solidFill>
              </a:rPr>
              <a:t>/CRC-16-Modbus校验/</a:t>
            </a:r>
            <a:r>
              <a:rPr dirty="0" err="1">
                <a:solidFill>
                  <a:schemeClr val="tx1"/>
                </a:solidFill>
              </a:rPr>
              <a:t>命令分发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43600" y="6217920"/>
            <a:ext cx="5760720" cy="411480"/>
          </a:xfrm>
          <a:prstGeom prst="roundRect">
            <a:avLst/>
          </a:prstGeom>
          <a:solidFill>
            <a:srgbClr val="C8B4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/>
            </a:pPr>
            <a:r>
              <a:rPr dirty="0">
                <a:solidFill>
                  <a:schemeClr val="tx1"/>
                </a:solidFill>
              </a:rPr>
              <a:t>Driver </a:t>
            </a:r>
            <a:r>
              <a:rPr dirty="0" err="1">
                <a:solidFill>
                  <a:schemeClr val="tx1"/>
                </a:solidFill>
              </a:rPr>
              <a:t>硬件驱动层：UART</a:t>
            </a:r>
            <a:r>
              <a:rPr dirty="0">
                <a:solidFill>
                  <a:schemeClr val="tx1"/>
                </a:solidFill>
              </a:rPr>
              <a:t>/SPI/ADC/DAC/Flash/RTC/</a:t>
            </a:r>
            <a:r>
              <a:rPr dirty="0" err="1">
                <a:solidFill>
                  <a:schemeClr val="tx1"/>
                </a:solidFill>
              </a:rPr>
              <a:t>GPIO驱动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9" name="Connector 19"/>
          <p:cNvCxnSpPr/>
          <p:nvPr/>
        </p:nvCxnSpPr>
        <p:spPr>
          <a:xfrm>
            <a:off x="8778240" y="1920240"/>
            <a:ext cx="0" cy="36576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/>
          <p:cNvGrpSpPr/>
          <p:nvPr/>
        </p:nvGrpSpPr>
        <p:grpSpPr>
          <a:xfrm>
            <a:off x="0" y="567002"/>
            <a:ext cx="8855507" cy="871592"/>
            <a:chOff x="0" y="567002"/>
            <a:chExt cx="8855507" cy="871592"/>
          </a:xfrm>
        </p:grpSpPr>
        <p:sp>
          <p:nvSpPr>
            <p:cNvPr id="202" name="圆角矩形 2"/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第四部分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工程系统优化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0" name="TextBox 209"/>
          <p:cNvSpPr txBox="1"/>
          <p:nvPr/>
        </p:nvSpPr>
        <p:spPr>
          <a:xfrm>
            <a:off x="331185" y="1600823"/>
            <a:ext cx="19011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/>
              <a:t>1、模块化分层设计</a:t>
            </a:r>
            <a:endParaRPr dirty="0"/>
          </a:p>
        </p:txBody>
      </p:sp>
      <p:sp>
        <p:nvSpPr>
          <p:cNvPr id="211" name="TextBox 210"/>
          <p:cNvSpPr txBox="1"/>
          <p:nvPr/>
        </p:nvSpPr>
        <p:spPr>
          <a:xfrm>
            <a:off x="800333" y="1974823"/>
            <a:ext cx="857013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/>
            </a:pPr>
            <a:r>
              <a:rPr sz="1200" dirty="0" err="1"/>
              <a:t>系统采用三层解耦架构，各层职责明确，修改一层不影响其他层</a:t>
            </a:r>
            <a:r>
              <a:rPr sz="1200" dirty="0"/>
              <a:t>：</a:t>
            </a:r>
            <a:endParaRPr sz="1200" dirty="0"/>
          </a:p>
          <a:p>
            <a:pPr>
              <a:spcAft>
                <a:spcPts val="200"/>
              </a:spcAft>
              <a:defRPr sz="1000" b="0"/>
            </a:pPr>
            <a:r>
              <a:rPr lang="en-US" sz="1200" dirty="0"/>
              <a:t>    </a:t>
            </a:r>
            <a:r>
              <a:rPr sz="1200" dirty="0"/>
              <a:t> </a:t>
            </a:r>
            <a:r>
              <a:rPr sz="1200" dirty="0" err="1"/>
              <a:t>硬件驱动层：ADC</a:t>
            </a:r>
            <a:r>
              <a:rPr sz="1200" dirty="0"/>
              <a:t>/DAC/USART/OLED/Flash/RTC/GD30AD3344 等12个独立驱动模块，每个模块独立.h/.</a:t>
            </a:r>
            <a:r>
              <a:rPr sz="1200" dirty="0" err="1"/>
              <a:t>c文件</a:t>
            </a:r>
            <a:r>
              <a:rPr sz="1200" dirty="0"/>
              <a:t>。</a:t>
            </a:r>
            <a:endParaRPr sz="1200" dirty="0"/>
          </a:p>
          <a:p>
            <a:pPr>
              <a:spcAft>
                <a:spcPts val="200"/>
              </a:spcAft>
              <a:defRPr sz="1000" b="0"/>
            </a:pPr>
            <a:r>
              <a:rPr lang="en-US" sz="1200" dirty="0"/>
              <a:t>     </a:t>
            </a:r>
            <a:r>
              <a:rPr sz="1200" dirty="0" err="1"/>
              <a:t>协议</a:t>
            </a:r>
            <a:r>
              <a:rPr sz="1200" dirty="0"/>
              <a:t>/</a:t>
            </a:r>
            <a:r>
              <a:rPr sz="1200" dirty="0" err="1"/>
              <a:t>命令层：protocol.c</a:t>
            </a:r>
            <a:r>
              <a:rPr sz="1200" dirty="0"/>
              <a:t> </a:t>
            </a:r>
            <a:r>
              <a:rPr sz="1200" dirty="0" err="1"/>
              <a:t>负责帧编解码+CRC校验；handler.c</a:t>
            </a:r>
            <a:r>
              <a:rPr sz="1200" dirty="0"/>
              <a:t> </a:t>
            </a:r>
            <a:r>
              <a:rPr sz="1200" dirty="0" err="1"/>
              <a:t>负责命令分发+参数管理+告警处理</a:t>
            </a:r>
            <a:r>
              <a:rPr sz="1200" dirty="0"/>
              <a:t>。</a:t>
            </a:r>
            <a:endParaRPr sz="1200" dirty="0"/>
          </a:p>
          <a:p>
            <a:pPr>
              <a:spcAft>
                <a:spcPts val="200"/>
              </a:spcAft>
              <a:defRPr sz="1000" b="0"/>
            </a:pPr>
            <a:r>
              <a:rPr lang="en-US" sz="1200" dirty="0"/>
              <a:t>    </a:t>
            </a:r>
            <a:r>
              <a:rPr sz="1200" dirty="0"/>
              <a:t> </a:t>
            </a:r>
            <a:r>
              <a:rPr sz="1200" dirty="0" err="1"/>
              <a:t>应用逻辑层：Function.c</a:t>
            </a:r>
            <a:r>
              <a:rPr sz="1200" dirty="0"/>
              <a:t> </a:t>
            </a:r>
            <a:r>
              <a:rPr sz="1200" dirty="0" err="1"/>
              <a:t>主循环负责采集、显示、上报、按键等业务逻辑</a:t>
            </a:r>
            <a:r>
              <a:rPr sz="1200" dirty="0"/>
              <a:t>。</a:t>
            </a:r>
            <a:endParaRPr sz="1200" dirty="0"/>
          </a:p>
          <a:p>
            <a:pPr>
              <a:spcAft>
                <a:spcPts val="200"/>
              </a:spcAft>
              <a:defRPr sz="1000" b="0"/>
            </a:pPr>
            <a:r>
              <a:rPr lang="en-US" sz="1200" dirty="0"/>
              <a:t>    </a:t>
            </a:r>
            <a:r>
              <a:rPr sz="1200" dirty="0"/>
              <a:t> </a:t>
            </a:r>
            <a:r>
              <a:rPr sz="1200" dirty="0" err="1"/>
              <a:t>统一管理：HeaderFiles.h</a:t>
            </a:r>
            <a:r>
              <a:rPr sz="1200" dirty="0"/>
              <a:t> </a:t>
            </a:r>
            <a:r>
              <a:rPr sz="1200" dirty="0" err="1"/>
              <a:t>汇总所有头文件，main.c</a:t>
            </a:r>
            <a:r>
              <a:rPr sz="1200" dirty="0"/>
              <a:t> </a:t>
            </a:r>
            <a:r>
              <a:rPr sz="1200" dirty="0" err="1"/>
              <a:t>只需</a:t>
            </a:r>
            <a:r>
              <a:rPr sz="1200" dirty="0"/>
              <a:t> include </a:t>
            </a:r>
            <a:r>
              <a:rPr sz="1200" dirty="0" err="1"/>
              <a:t>一个文件即可访问全部模块</a:t>
            </a:r>
            <a:r>
              <a:rPr dirty="0"/>
              <a:t>。</a:t>
            </a:r>
            <a:endParaRPr dirty="0"/>
          </a:p>
        </p:txBody>
      </p:sp>
      <p:sp>
        <p:nvSpPr>
          <p:cNvPr id="212" name="TextBox 211"/>
          <p:cNvSpPr txBox="1"/>
          <p:nvPr/>
        </p:nvSpPr>
        <p:spPr>
          <a:xfrm>
            <a:off x="331185" y="3628316"/>
            <a:ext cx="199153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/>
              <a:t>2、查表法命令分发设计</a:t>
            </a:r>
            <a:endParaRPr dirty="0"/>
          </a:p>
        </p:txBody>
      </p:sp>
      <p:sp>
        <p:nvSpPr>
          <p:cNvPr id="213" name="TextBox 212"/>
          <p:cNvSpPr txBox="1"/>
          <p:nvPr/>
        </p:nvSpPr>
        <p:spPr>
          <a:xfrm>
            <a:off x="800332" y="3920704"/>
            <a:ext cx="6404801" cy="964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/>
            </a:pPr>
            <a:r>
              <a:rPr sz="1200" dirty="0" err="1"/>
              <a:t>命令分发采用</a:t>
            </a:r>
            <a:r>
              <a:rPr sz="1200" dirty="0"/>
              <a:t> </a:t>
            </a:r>
            <a:r>
              <a:rPr sz="1200" dirty="0" err="1"/>
              <a:t>cmd_table</a:t>
            </a:r>
            <a:r>
              <a:rPr sz="1200"/>
              <a:t>[</a:t>
            </a:r>
            <a:r>
              <a:rPr lang="en-US" sz="1200"/>
              <a:t> </a:t>
            </a:r>
            <a:r>
              <a:rPr sz="1200"/>
              <a:t>] </a:t>
            </a:r>
            <a:r>
              <a:rPr sz="1200" dirty="0" err="1"/>
              <a:t>查表法替代</a:t>
            </a:r>
            <a:r>
              <a:rPr sz="1200" dirty="0"/>
              <a:t> if-else </a:t>
            </a:r>
            <a:r>
              <a:rPr sz="1200" dirty="0" err="1"/>
              <a:t>链，具有以下优势</a:t>
            </a:r>
            <a:r>
              <a:rPr sz="1200" dirty="0"/>
              <a:t>：</a:t>
            </a:r>
            <a:endParaRPr lang="zh-CN" altLang="en-US" sz="1200" dirty="0"/>
          </a:p>
          <a:p>
            <a:pPr>
              <a:spcAft>
                <a:spcPts val="200"/>
              </a:spcAft>
              <a:defRPr sz="1000" b="0"/>
            </a:pPr>
            <a:r>
              <a:rPr lang="en-US" sz="1200" dirty="0"/>
              <a:t>     </a:t>
            </a:r>
            <a:r>
              <a:rPr lang="zh-CN" altLang="en-US" sz="1200" dirty="0"/>
              <a:t>扩展性好：新增命令只需在数组中添加一行 </a:t>
            </a:r>
            <a:r>
              <a:rPr lang="en-US" altLang="zh-CN" sz="1200" dirty="0"/>
              <a:t>{CMD_XXX, </a:t>
            </a:r>
            <a:r>
              <a:rPr lang="en-US" altLang="zh-CN" sz="1200" dirty="0" err="1"/>
              <a:t>h_xxx</a:t>
            </a:r>
            <a:r>
              <a:rPr lang="en-US" altLang="zh-CN" sz="1200" dirty="0"/>
              <a:t>}</a:t>
            </a:r>
            <a:r>
              <a:rPr lang="zh-CN" altLang="en-US" sz="1200" dirty="0"/>
              <a:t>，无需修改分发逻辑。</a:t>
            </a:r>
            <a:endParaRPr lang="zh-CN" altLang="en-US" sz="1200" dirty="0"/>
          </a:p>
          <a:p>
            <a:pPr>
              <a:spcAft>
                <a:spcPts val="200"/>
              </a:spcAft>
              <a:defRPr sz="1000" b="0"/>
            </a:pPr>
            <a:r>
              <a:rPr lang="en-US" sz="1200" dirty="0"/>
              <a:t>     </a:t>
            </a:r>
            <a:r>
              <a:rPr sz="1200" dirty="0"/>
              <a:t>可维护性高：28个命令处理函数与分发逻辑解耦，每个handler独立可测试</a:t>
            </a:r>
            <a:r>
              <a:rPr dirty="0"/>
              <a:t>。</a:t>
            </a:r>
            <a:r>
              <a:rPr lang="en-US" dirty="0"/>
              <a:t>    </a:t>
            </a:r>
            <a:endParaRPr dirty="0"/>
          </a:p>
        </p:txBody>
      </p:sp>
      <p:graphicFrame>
        <p:nvGraphicFramePr>
          <p:cNvPr id="214" name="Table 213"/>
          <p:cNvGraphicFramePr>
            <a:graphicFrameLocks noGrp="1"/>
          </p:cNvGraphicFramePr>
          <p:nvPr/>
        </p:nvGraphicFramePr>
        <p:xfrm>
          <a:off x="1845250" y="5011072"/>
          <a:ext cx="8006166" cy="1620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8722"/>
                <a:gridCol w="2668722"/>
                <a:gridCol w="2668722"/>
              </a:tblGrid>
              <a:tr h="342353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命令字</a:t>
                      </a:r>
                      <a:endParaRPr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处理函数</a:t>
                      </a:r>
                      <a:endParaRPr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功能说明</a:t>
                      </a:r>
                      <a:endParaRPr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31953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dirty="0"/>
                        <a:t>CMD_QUERY_CH0 (0x0201)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h_query_ch0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查询CH0电压值，返回float大端IEEE754</a:t>
                      </a:r>
                    </a:p>
                  </a:txBody>
                  <a:tcPr anchor="ctr"/>
                </a:tc>
              </a:tr>
              <a:tr h="31953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CMD_SET_DID (0x01A1)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dirty="0" err="1"/>
                        <a:t>h_set_device_id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设置设备ID，写入Flash持久化保存</a:t>
                      </a:r>
                    </a:p>
                  </a:txBody>
                  <a:tcPr anchor="ctr"/>
                </a:tc>
              </a:tr>
              <a:tr h="31953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CMD_RPT_ON (0x0302)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h_auto_report_start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启动自动上报，返回首帧12字节数据</a:t>
                      </a:r>
                    </a:p>
                  </a:txBody>
                  <a:tcPr anchor="ctr"/>
                </a:tc>
              </a:tr>
              <a:tr h="319530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CMD_SLEEP (0x03AA)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t>h_sleep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dirty="0"/>
                        <a:t>进入深度睡眠，RTC闹钟10秒后唤醒</a:t>
                      </a:r>
                      <a:endParaRPr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/>
          <p:cNvGrpSpPr/>
          <p:nvPr/>
        </p:nvGrpSpPr>
        <p:grpSpPr>
          <a:xfrm>
            <a:off x="0" y="567002"/>
            <a:ext cx="8855507" cy="871592"/>
            <a:chOff x="0" y="567002"/>
            <a:chExt cx="8855507" cy="871592"/>
          </a:xfrm>
        </p:grpSpPr>
        <p:sp>
          <p:nvSpPr>
            <p:cNvPr id="202" name="圆角矩形 2"/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第五部分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系统功能调试</a:t>
              </a:r>
              <a:endParaRPr lang="zh-CN" altLang="en-US" sz="2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1" name="Rounded Rectangle 210"/>
          <p:cNvSpPr/>
          <p:nvPr/>
        </p:nvSpPr>
        <p:spPr>
          <a:xfrm>
            <a:off x="7055507" y="1586045"/>
            <a:ext cx="1800000" cy="648000"/>
          </a:xfrm>
          <a:prstGeom prst="roundRect">
            <a:avLst/>
          </a:prstGeom>
          <a:solidFill>
            <a:srgbClr val="2F549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rPr dirty="0" err="1"/>
              <a:t>第一步：单元调试</a:t>
            </a:r>
            <a:endParaRPr dirty="0"/>
          </a:p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rPr dirty="0" err="1"/>
              <a:t>独立测试各驱动模块</a:t>
            </a:r>
            <a:endParaRPr dirty="0"/>
          </a:p>
        </p:txBody>
      </p:sp>
      <p:sp>
        <p:nvSpPr>
          <p:cNvPr id="212" name="Right Arrow 211"/>
          <p:cNvSpPr/>
          <p:nvPr/>
        </p:nvSpPr>
        <p:spPr>
          <a:xfrm rot="5400000">
            <a:off x="7845740" y="2482903"/>
            <a:ext cx="216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7055507" y="2861566"/>
            <a:ext cx="1800000" cy="648000"/>
          </a:xfrm>
          <a:prstGeom prst="roundRect">
            <a:avLst/>
          </a:prstGeom>
          <a:solidFill>
            <a:srgbClr val="4472C4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rPr dirty="0" err="1"/>
              <a:t>第二步：协议调试</a:t>
            </a:r>
            <a:endParaRPr dirty="0"/>
          </a:p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rPr dirty="0" err="1"/>
              <a:t>帧解析</a:t>
            </a:r>
            <a:r>
              <a:rPr dirty="0"/>
              <a:t>/CRC/</a:t>
            </a:r>
            <a:r>
              <a:rPr dirty="0" err="1"/>
              <a:t>命令分发</a:t>
            </a:r>
            <a:endParaRPr dirty="0"/>
          </a:p>
        </p:txBody>
      </p:sp>
      <p:sp>
        <p:nvSpPr>
          <p:cNvPr id="214" name="Right Arrow 213"/>
          <p:cNvSpPr/>
          <p:nvPr/>
        </p:nvSpPr>
        <p:spPr>
          <a:xfrm>
            <a:off x="9081120" y="3094901"/>
            <a:ext cx="216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9522733" y="2860901"/>
            <a:ext cx="1800000" cy="648000"/>
          </a:xfrm>
          <a:prstGeom prst="roundRect">
            <a:avLst/>
          </a:prstGeom>
          <a:solidFill>
            <a:srgbClr val="70AD47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第三步：集成调试</a:t>
            </a:r>
          </a:p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多模块协同联动</a:t>
            </a:r>
          </a:p>
        </p:txBody>
      </p:sp>
      <p:sp>
        <p:nvSpPr>
          <p:cNvPr id="216" name="Right Arrow 215"/>
          <p:cNvSpPr/>
          <p:nvPr/>
        </p:nvSpPr>
        <p:spPr>
          <a:xfrm rot="16200000">
            <a:off x="10314733" y="2482903"/>
            <a:ext cx="216000" cy="1800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7" name="Rounded Rectangle 216"/>
          <p:cNvSpPr/>
          <p:nvPr/>
        </p:nvSpPr>
        <p:spPr>
          <a:xfrm>
            <a:off x="9522733" y="1583921"/>
            <a:ext cx="1800000" cy="648000"/>
          </a:xfrm>
          <a:prstGeom prst="roundRect">
            <a:avLst/>
          </a:prstGeom>
          <a:solidFill>
            <a:srgbClr val="ED7D31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rPr dirty="0" err="1"/>
              <a:t>第四步：系统验证</a:t>
            </a:r>
            <a:endParaRPr dirty="0"/>
          </a:p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rPr dirty="0" err="1"/>
              <a:t>完整功能+异常覆盖</a:t>
            </a:r>
            <a:endParaRPr dirty="0"/>
          </a:p>
        </p:txBody>
      </p:sp>
      <p:sp>
        <p:nvSpPr>
          <p:cNvPr id="218" name="TextBox 217"/>
          <p:cNvSpPr txBox="1"/>
          <p:nvPr/>
        </p:nvSpPr>
        <p:spPr>
          <a:xfrm>
            <a:off x="192390" y="1525791"/>
            <a:ext cx="286373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1、单元调试：驱动模块独立测试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77438" y="1796715"/>
            <a:ext cx="657049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/>
            </a:pPr>
            <a:r>
              <a:rPr dirty="0" err="1"/>
              <a:t>各驱动模块独立验证硬件接口正确性，确保底层功能可靠</a:t>
            </a:r>
            <a:r>
              <a:rPr dirty="0"/>
              <a:t>：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  </a:t>
            </a:r>
            <a:r>
              <a:rPr dirty="0"/>
              <a:t> </a:t>
            </a:r>
            <a:r>
              <a:rPr b="1" dirty="0" err="1"/>
              <a:t>ADC采集：</a:t>
            </a:r>
            <a:r>
              <a:rPr dirty="0" err="1"/>
              <a:t>调用</a:t>
            </a:r>
            <a:r>
              <a:rPr dirty="0"/>
              <a:t> </a:t>
            </a:r>
            <a:r>
              <a:rPr dirty="0" err="1"/>
              <a:t>ADC_Get_Average</a:t>
            </a:r>
            <a:r>
              <a:rPr dirty="0"/>
              <a:t>(20) </a:t>
            </a:r>
            <a:r>
              <a:rPr dirty="0" err="1"/>
              <a:t>读取标准电压源，校验采样值误差</a:t>
            </a:r>
            <a:r>
              <a:rPr dirty="0"/>
              <a:t>&lt;1%，验证20次硬件平均算法精度。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  </a:t>
            </a:r>
            <a:r>
              <a:rPr dirty="0"/>
              <a:t> </a:t>
            </a:r>
            <a:r>
              <a:rPr sz="1000" b="1" dirty="0" err="1"/>
              <a:t>DAC输出：</a:t>
            </a:r>
            <a:r>
              <a:rPr dirty="0" err="1"/>
              <a:t>调用</a:t>
            </a:r>
            <a:r>
              <a:rPr dirty="0"/>
              <a:t> </a:t>
            </a:r>
            <a:r>
              <a:rPr dirty="0" err="1"/>
              <a:t>DAC_SetValue</a:t>
            </a:r>
            <a:r>
              <a:rPr dirty="0"/>
              <a:t>() 输出标准值（如2048），万用表测量引脚电压，校验12位DAC线性度。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  </a:t>
            </a:r>
            <a:r>
              <a:rPr dirty="0"/>
              <a:t> </a:t>
            </a:r>
            <a:r>
              <a:rPr sz="1000" b="1" dirty="0"/>
              <a:t>USART收发：</a:t>
            </a:r>
            <a:r>
              <a:rPr dirty="0"/>
              <a:t>发送固定字符串，串口助手校验接收正确性；测试RS485 </a:t>
            </a:r>
            <a:r>
              <a:rPr dirty="0" err="1"/>
              <a:t>DE引脚收发切换时序</a:t>
            </a:r>
            <a:r>
              <a:rPr dirty="0"/>
              <a:t>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sz="1000" b="1" dirty="0"/>
              <a:t>    </a:t>
            </a:r>
            <a:r>
              <a:rPr sz="1000" b="1" dirty="0"/>
              <a:t> Flash读写：</a:t>
            </a:r>
            <a:r>
              <a:rPr dirty="0"/>
              <a:t>写入已知数据结构体，回读校验CRC32一致性；测试擦除后读取全0xFF。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sz="1000" b="1" dirty="0"/>
              <a:t>    </a:t>
            </a:r>
            <a:r>
              <a:rPr sz="1000" b="1" dirty="0"/>
              <a:t> OLED显示：</a:t>
            </a:r>
            <a:r>
              <a:rPr dirty="0"/>
              <a:t>初始化后显示固定文本，验证I2C通信和显存映射正确性。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  </a:t>
            </a:r>
            <a:r>
              <a:rPr dirty="0"/>
              <a:t> </a:t>
            </a:r>
            <a:r>
              <a:rPr sz="1000" b="1" dirty="0" err="1"/>
              <a:t>RTC时钟：</a:t>
            </a:r>
            <a:r>
              <a:rPr dirty="0" err="1"/>
              <a:t>设置已知时间，回读校验BCD编码正确性；验证UTC时间戳转换</a:t>
            </a:r>
            <a:r>
              <a:rPr dirty="0"/>
              <a:t>。</a:t>
            </a:r>
            <a:r>
              <a:rPr lang="en-US" dirty="0"/>
              <a:t>  </a:t>
            </a:r>
            <a:endParaRPr dirty="0"/>
          </a:p>
        </p:txBody>
      </p:sp>
      <p:sp>
        <p:nvSpPr>
          <p:cNvPr id="220" name="TextBox 219"/>
          <p:cNvSpPr txBox="1"/>
          <p:nvPr/>
        </p:nvSpPr>
        <p:spPr>
          <a:xfrm>
            <a:off x="177438" y="4320848"/>
            <a:ext cx="46495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/>
              <a:t>2、协议调试：通信帧正确性验证</a:t>
            </a:r>
            <a:endParaRPr dirty="0"/>
          </a:p>
        </p:txBody>
      </p:sp>
      <p:sp>
        <p:nvSpPr>
          <p:cNvPr id="221" name="TextBox 220"/>
          <p:cNvSpPr txBox="1"/>
          <p:nvPr/>
        </p:nvSpPr>
        <p:spPr>
          <a:xfrm>
            <a:off x="177438" y="4698180"/>
            <a:ext cx="575737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/>
            </a:pPr>
            <a:r>
              <a:rPr dirty="0" err="1"/>
              <a:t>验证协议层帧解析、校验和分发逻辑的正确性</a:t>
            </a:r>
            <a:r>
              <a:rPr dirty="0"/>
              <a:t>：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 </a:t>
            </a:r>
            <a:r>
              <a:rPr dirty="0"/>
              <a:t> </a:t>
            </a:r>
            <a:r>
              <a:rPr sz="1000" b="1" dirty="0"/>
              <a:t>帧解析：</a:t>
            </a:r>
            <a:r>
              <a:rPr dirty="0"/>
              <a:t>发送标准A5B6帧，校验 </a:t>
            </a:r>
            <a:r>
              <a:rPr dirty="0" err="1"/>
              <a:t>protocol_frame_parse</a:t>
            </a:r>
            <a:r>
              <a:rPr dirty="0"/>
              <a:t>() </a:t>
            </a:r>
            <a:r>
              <a:rPr dirty="0" err="1"/>
              <a:t>返回值</a:t>
            </a:r>
            <a:r>
              <a:rPr dirty="0"/>
              <a:t>=0（成功），</a:t>
            </a:r>
            <a:r>
              <a:rPr dirty="0" err="1"/>
              <a:t>各字段解析正确</a:t>
            </a:r>
            <a:r>
              <a:rPr dirty="0"/>
              <a:t>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 </a:t>
            </a:r>
            <a:r>
              <a:rPr dirty="0"/>
              <a:t> </a:t>
            </a:r>
            <a:r>
              <a:rPr sz="1000" b="1" dirty="0"/>
              <a:t>CRC校验：</a:t>
            </a:r>
            <a:r>
              <a:rPr dirty="0"/>
              <a:t>修改帧中1字节数据，验证CRC校验失败返回值=3，且回复ERROR应答帧。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 </a:t>
            </a:r>
            <a:r>
              <a:rPr dirty="0"/>
              <a:t> </a:t>
            </a:r>
            <a:r>
              <a:rPr sz="1000" b="1" dirty="0"/>
              <a:t>帧尾校验：</a:t>
            </a:r>
            <a:r>
              <a:rPr dirty="0"/>
              <a:t>修改帧尾B6A5为其他值，验证返回值=4（帧尾错误）。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sz="1000" b="1" dirty="0"/>
              <a:t>   </a:t>
            </a:r>
            <a:r>
              <a:rPr sz="1000" b="1" dirty="0"/>
              <a:t> 设备ID过滤：</a:t>
            </a:r>
            <a:r>
              <a:rPr dirty="0"/>
              <a:t>发送DevID≠本机的帧，验证静默丢弃不回复；发送广播0xFFFF，验证正常响应。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b="1" dirty="0"/>
              <a:t>   </a:t>
            </a:r>
            <a:r>
              <a:rPr b="1" dirty="0"/>
              <a:t> 命令分发：</a:t>
            </a:r>
            <a:r>
              <a:rPr dirty="0"/>
              <a:t>发送各命令字（如0x0201查CH0），</a:t>
            </a:r>
            <a:r>
              <a:rPr dirty="0" err="1"/>
              <a:t>校验对应handler被正确调用并返回预期应答</a:t>
            </a:r>
            <a:r>
              <a:rPr dirty="0"/>
              <a:t>。</a:t>
            </a:r>
            <a:endParaRPr dirty="0"/>
          </a:p>
        </p:txBody>
      </p:sp>
      <p:sp>
        <p:nvSpPr>
          <p:cNvPr id="222" name="TextBox 221"/>
          <p:cNvSpPr txBox="1"/>
          <p:nvPr/>
        </p:nvSpPr>
        <p:spPr>
          <a:xfrm>
            <a:off x="6093120" y="4070899"/>
            <a:ext cx="2988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/>
              <a:t>3、集成调试：多模块协同与系统验证</a:t>
            </a:r>
            <a:endParaRPr dirty="0"/>
          </a:p>
        </p:txBody>
      </p:sp>
      <p:sp>
        <p:nvSpPr>
          <p:cNvPr id="223" name="TextBox 222"/>
          <p:cNvSpPr txBox="1"/>
          <p:nvPr/>
        </p:nvSpPr>
        <p:spPr>
          <a:xfrm>
            <a:off x="6093120" y="4390403"/>
            <a:ext cx="621427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/>
            </a:pPr>
            <a:r>
              <a:rPr dirty="0" err="1"/>
              <a:t>验证主循环中多模块协同工作和完整业务流程</a:t>
            </a:r>
            <a:r>
              <a:rPr dirty="0"/>
              <a:t>：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</a:t>
            </a:r>
            <a:r>
              <a:rPr dirty="0"/>
              <a:t> </a:t>
            </a:r>
            <a:r>
              <a:rPr b="1" dirty="0"/>
              <a:t>自动上报</a:t>
            </a:r>
            <a:r>
              <a:rPr dirty="0"/>
              <a:t>：发送CMD_RPT_ON启动上报，校验12字节数据帧格式（UTC+CH0+CH1）和上报周期准确性。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 </a:t>
            </a:r>
            <a:r>
              <a:rPr b="1" dirty="0" err="1"/>
              <a:t>上报期间指令屏蔽</a:t>
            </a:r>
            <a:r>
              <a:rPr dirty="0" err="1"/>
              <a:t>：自动上报中发送其他控制指令，验证被屏蔽不响应；发送CMD_RPT_OFF验证可停止</a:t>
            </a:r>
            <a:r>
              <a:rPr dirty="0"/>
              <a:t>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</a:t>
            </a:r>
            <a:r>
              <a:rPr b="1" dirty="0"/>
              <a:t> </a:t>
            </a:r>
            <a:r>
              <a:rPr b="1" dirty="0" err="1"/>
              <a:t>告警触发</a:t>
            </a:r>
            <a:r>
              <a:rPr dirty="0" err="1"/>
              <a:t>：设置低阈值，验证超限时告警记录写入环形缓冲区；查询告警验证记录格式正确</a:t>
            </a:r>
            <a:r>
              <a:rPr dirty="0"/>
              <a:t>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</a:t>
            </a:r>
            <a:r>
              <a:rPr b="1" dirty="0"/>
              <a:t> </a:t>
            </a:r>
            <a:r>
              <a:rPr b="1" dirty="0" err="1"/>
              <a:t>参数持久化</a:t>
            </a:r>
            <a:r>
              <a:rPr dirty="0" err="1"/>
              <a:t>：修改变比</a:t>
            </a:r>
            <a:r>
              <a:rPr dirty="0"/>
              <a:t>/</a:t>
            </a:r>
            <a:r>
              <a:rPr dirty="0" err="1"/>
              <a:t>阈值</a:t>
            </a:r>
            <a:r>
              <a:rPr dirty="0"/>
              <a:t>/</a:t>
            </a:r>
            <a:r>
              <a:rPr dirty="0" err="1"/>
              <a:t>设备ID后断电重启，验证参数从Flash正确恢复</a:t>
            </a:r>
            <a:r>
              <a:rPr dirty="0"/>
              <a:t>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</a:t>
            </a:r>
            <a:r>
              <a:rPr dirty="0"/>
              <a:t> </a:t>
            </a:r>
            <a:r>
              <a:rPr b="1" dirty="0"/>
              <a:t>低功耗睡眠：</a:t>
            </a:r>
            <a:r>
              <a:rPr dirty="0"/>
              <a:t>发送CMD_SLEEP，验证系统进入深度睡眠；RTC闹钟10秒后唤醒，验证串口发送"i</a:t>
            </a:r>
            <a:r>
              <a:rPr lang="en-US" dirty="0"/>
              <a:t>nstrument</a:t>
            </a:r>
            <a:endParaRPr lang="en-US" dirty="0"/>
          </a:p>
          <a:p>
            <a:pPr>
              <a:spcAft>
                <a:spcPts val="200"/>
              </a:spcAft>
              <a:defRPr sz="1000" b="0"/>
            </a:pPr>
            <a:r>
              <a:rPr lang="en-US" dirty="0"/>
              <a:t>     w</a:t>
            </a:r>
            <a:r>
              <a:rPr dirty="0"/>
              <a:t>akeup"。</a:t>
            </a:r>
            <a:endParaRPr dirty="0"/>
          </a:p>
          <a:p>
            <a:pPr>
              <a:spcAft>
                <a:spcPts val="200"/>
              </a:spcAft>
              <a:defRPr sz="1000" b="0"/>
            </a:pPr>
            <a:r>
              <a:rPr lang="en-US" b="1" dirty="0"/>
              <a:t>  </a:t>
            </a:r>
            <a:r>
              <a:rPr b="1" dirty="0"/>
              <a:t> 按键切换：</a:t>
            </a:r>
            <a:r>
              <a:rPr dirty="0"/>
              <a:t>KEY0按下，验证自动上报状态切换和LED2/</a:t>
            </a:r>
            <a:r>
              <a:rPr dirty="0" err="1"/>
              <a:t>OLED联动正确</a:t>
            </a:r>
            <a:r>
              <a:rPr dirty="0"/>
              <a:t>。</a:t>
            </a:r>
            <a:endParaRPr dirty="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/>
          <p:cNvGrpSpPr/>
          <p:nvPr/>
        </p:nvGrpSpPr>
        <p:grpSpPr>
          <a:xfrm>
            <a:off x="1" y="262202"/>
            <a:ext cx="8266074" cy="871592"/>
            <a:chOff x="0" y="567002"/>
            <a:chExt cx="8855507" cy="871592"/>
          </a:xfrm>
        </p:grpSpPr>
        <p:sp>
          <p:nvSpPr>
            <p:cNvPr id="202" name="圆角矩形 2"/>
            <p:cNvSpPr/>
            <p:nvPr/>
          </p:nvSpPr>
          <p:spPr>
            <a:xfrm>
              <a:off x="0" y="567002"/>
              <a:ext cx="8855507" cy="871592"/>
            </a:xfrm>
            <a:prstGeom prst="roundRect">
              <a:avLst>
                <a:gd name="adj" fmla="val 258"/>
              </a:avLst>
            </a:prstGeom>
            <a:gradFill>
              <a:gsLst>
                <a:gs pos="51000">
                  <a:srgbClr val="1F51CC"/>
                </a:gs>
                <a:gs pos="100000">
                  <a:srgbClr val="3B66B7">
                    <a:alpha val="0"/>
                  </a:srgbClr>
                </a:gs>
              </a:gsLst>
              <a:lin ang="9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502482" y="673862"/>
              <a:ext cx="342249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500" dirty="0">
                  <a:solidFill>
                    <a:srgbClr val="9FCFF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第六部分</a:t>
              </a:r>
              <a:endParaRPr lang="zh-CN" altLang="en-US" sz="1500" dirty="0">
                <a:solidFill>
                  <a:srgbClr val="9FCFF7"/>
                </a:solidFill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502482" y="957480"/>
              <a:ext cx="486387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总结与展望</a:t>
              </a:r>
              <a:endParaRPr lang="zh-CN" altLang="en-US" sz="2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01981" y="1441569"/>
            <a:ext cx="3801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tx1"/>
                </a:solidFill>
              </a:rPr>
              <a:t>一、设计总结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1980" y="1946263"/>
            <a:ext cx="10302239" cy="3021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围绕2026年CIMC工业嵌入式系统开发初赛赛题要求，</a:t>
            </a:r>
            <a:r>
              <a:rPr lang="zh-CN" altLang="en-US" dirty="0"/>
              <a:t>我们</a:t>
            </a:r>
            <a:r>
              <a:rPr dirty="0"/>
              <a:t>完成了一套基于GD32F470微控制器的工业数据采集终端。设计涵盖了完整的硬件电路设计、软件分层架构设计、业务功能实现以及系统调试与优化。</a:t>
            </a:r>
            <a:endParaRPr dirty="0"/>
          </a:p>
          <a:p>
            <a:pPr>
              <a:spcAft>
                <a:spcPts val="200"/>
              </a:spcAft>
              <a:defRPr sz="1100"/>
            </a:pPr>
            <a:r>
              <a:rPr lang="zh-CN" altLang="en-US" b="1" dirty="0"/>
              <a:t>硬件设计方面</a:t>
            </a:r>
            <a:r>
              <a:rPr lang="en-US" altLang="zh-CN" b="1" dirty="0"/>
              <a:t>:</a:t>
            </a:r>
            <a:endParaRPr lang="en-US" altLang="zh-CN" b="1" dirty="0"/>
          </a:p>
          <a:p>
            <a:pPr lvl="1">
              <a:spcAft>
                <a:spcPts val="200"/>
              </a:spcAft>
              <a:defRPr sz="1100"/>
            </a:pPr>
            <a:r>
              <a:rPr lang="zh-CN" altLang="en-US" b="1" dirty="0"/>
              <a:t>电源模块</a:t>
            </a:r>
            <a:r>
              <a:rPr lang="zh-CN" altLang="en-US" dirty="0"/>
              <a:t>：采用 </a:t>
            </a:r>
            <a:r>
              <a:rPr lang="en-US" altLang="zh-CN" dirty="0"/>
              <a:t>GD30DC1354 </a:t>
            </a:r>
            <a:r>
              <a:rPr lang="zh-CN" altLang="en-US" dirty="0"/>
              <a:t>同步降压转换器，支持 </a:t>
            </a:r>
            <a:r>
              <a:rPr lang="en-US" altLang="zh-CN" dirty="0"/>
              <a:t>12V~36V </a:t>
            </a:r>
            <a:r>
              <a:rPr lang="zh-CN" altLang="en-US" dirty="0"/>
              <a:t>宽电压输入，实现 </a:t>
            </a:r>
            <a:r>
              <a:rPr lang="en-US" altLang="zh-CN" dirty="0"/>
              <a:t>5V/2A </a:t>
            </a:r>
            <a:r>
              <a:rPr lang="zh-CN" altLang="en-US" dirty="0"/>
              <a:t>稳压输出，集成防反接与多级滤波。</a:t>
            </a:r>
            <a:endParaRPr lang="en-US" altLang="zh-CN" dirty="0"/>
          </a:p>
          <a:p>
            <a:pPr lvl="1">
              <a:spcAft>
                <a:spcPts val="200"/>
              </a:spcAft>
              <a:defRPr sz="1100"/>
            </a:pPr>
            <a:r>
              <a:rPr lang="en-US" altLang="zh-CN" b="1" dirty="0"/>
              <a:t>PT100 </a:t>
            </a:r>
            <a:r>
              <a:rPr lang="zh-CN" altLang="en-US" b="1" dirty="0"/>
              <a:t>采样板</a:t>
            </a:r>
            <a:r>
              <a:rPr lang="zh-CN" altLang="en-US" dirty="0"/>
              <a:t>：采用四线制开尔文连接消除引线电阻；由 </a:t>
            </a:r>
            <a:r>
              <a:rPr lang="en-US" altLang="zh-CN" dirty="0"/>
              <a:t>REF3040 </a:t>
            </a:r>
            <a:r>
              <a:rPr lang="zh-CN" altLang="en-US" dirty="0"/>
              <a:t>精密基准源与 </a:t>
            </a:r>
            <a:r>
              <a:rPr lang="en-US" altLang="zh-CN" dirty="0"/>
              <a:t>TLV333 </a:t>
            </a:r>
            <a:r>
              <a:rPr lang="zh-CN" altLang="en-US" dirty="0"/>
              <a:t>构建 </a:t>
            </a:r>
            <a:r>
              <a:rPr lang="en-US" altLang="zh-CN" dirty="0"/>
              <a:t>1mA</a:t>
            </a:r>
            <a:r>
              <a:rPr lang="zh-CN" altLang="en-US" dirty="0"/>
              <a:t>恒流源；经 </a:t>
            </a:r>
            <a:r>
              <a:rPr lang="en-US" altLang="zh-CN" dirty="0"/>
              <a:t>INA333 </a:t>
            </a:r>
            <a:r>
              <a:rPr lang="zh-CN" altLang="en-US" dirty="0"/>
              <a:t>仪表放大器进行 </a:t>
            </a:r>
            <a:r>
              <a:rPr lang="en-US" altLang="zh-CN" dirty="0"/>
              <a:t>26 </a:t>
            </a:r>
            <a:r>
              <a:rPr lang="zh-CN" altLang="en-US" dirty="0"/>
              <a:t>倍增益放大</a:t>
            </a:r>
            <a:r>
              <a:rPr lang="en-US" altLang="zh-CN" dirty="0"/>
              <a:t>;</a:t>
            </a:r>
            <a:r>
              <a:rPr lang="zh-CN" altLang="en-US" dirty="0"/>
              <a:t> </a:t>
            </a:r>
            <a:endParaRPr lang="en-US" altLang="zh-CN" dirty="0"/>
          </a:p>
          <a:p>
            <a:pPr lvl="1">
              <a:spcAft>
                <a:spcPts val="200"/>
              </a:spcAft>
              <a:defRPr sz="1100"/>
            </a:pPr>
            <a:r>
              <a:rPr lang="zh-CN" altLang="en-US" dirty="0"/>
              <a:t>最终通过 </a:t>
            </a:r>
            <a:r>
              <a:rPr lang="en-US" altLang="zh-CN" dirty="0"/>
              <a:t>24 </a:t>
            </a:r>
            <a:r>
              <a:rPr lang="zh-CN" altLang="en-US" dirty="0"/>
              <a:t>位高精度 </a:t>
            </a:r>
            <a:r>
              <a:rPr lang="en-US" altLang="zh-CN" dirty="0"/>
              <a:t>ADC</a:t>
            </a:r>
            <a:r>
              <a:rPr lang="zh-CN" altLang="en-US" dirty="0"/>
              <a:t>（</a:t>
            </a:r>
            <a:r>
              <a:rPr lang="en-US" altLang="zh-CN" dirty="0"/>
              <a:t>GD30AD3344</a:t>
            </a:r>
            <a:r>
              <a:rPr lang="zh-CN" altLang="en-US" dirty="0"/>
              <a:t>）进行模数转换，覆盖</a:t>
            </a:r>
            <a:r>
              <a:rPr lang="en-US" altLang="zh-CN" dirty="0"/>
              <a:t>-49.2℃~141.11℃</a:t>
            </a:r>
            <a:r>
              <a:rPr lang="zh-CN" altLang="en-US" dirty="0"/>
              <a:t>的模拟温度范围。</a:t>
            </a:r>
            <a:endParaRPr lang="en-US" altLang="zh-CN" dirty="0"/>
          </a:p>
          <a:p>
            <a:pPr lvl="1">
              <a:spcAft>
                <a:spcPts val="200"/>
              </a:spcAft>
              <a:defRPr sz="1100"/>
            </a:pPr>
            <a:r>
              <a:rPr lang="zh-CN" altLang="en-US" b="1" dirty="0"/>
              <a:t>模拟测试板</a:t>
            </a:r>
            <a:r>
              <a:rPr lang="zh-CN" altLang="en-US" dirty="0"/>
              <a:t>：设计包含 </a:t>
            </a:r>
            <a:r>
              <a:rPr lang="en-US" altLang="zh-CN" dirty="0"/>
              <a:t>0.1% </a:t>
            </a:r>
            <a:r>
              <a:rPr lang="zh-CN" altLang="en-US" dirty="0"/>
              <a:t>高精度电阻阵列与切换开关。</a:t>
            </a:r>
            <a:endParaRPr lang="zh-CN" altLang="en-US" dirty="0"/>
          </a:p>
          <a:p>
            <a:pPr>
              <a:spcAft>
                <a:spcPts val="200"/>
              </a:spcAft>
              <a:defRPr sz="1100"/>
            </a:pPr>
            <a:r>
              <a:rPr lang="zh-CN" altLang="en-US" b="1" dirty="0"/>
              <a:t>软件设计核心：</a:t>
            </a:r>
            <a:endParaRPr lang="en-US" altLang="zh-CN" b="1" dirty="0"/>
          </a:p>
          <a:p>
            <a:pPr>
              <a:spcAft>
                <a:spcPts val="200"/>
              </a:spcAft>
              <a:defRPr sz="1100"/>
            </a:pPr>
            <a:r>
              <a:rPr lang="zh-CN" altLang="en-US" b="1" dirty="0"/>
              <a:t>           架构划分：</a:t>
            </a:r>
            <a:r>
              <a:rPr lang="zh-CN" altLang="en-US" dirty="0"/>
              <a:t>严格遵循 </a:t>
            </a:r>
            <a:r>
              <a:rPr lang="en-US" altLang="zh-CN" dirty="0"/>
              <a:t>Driver</a:t>
            </a:r>
            <a:r>
              <a:rPr lang="zh-CN" altLang="en-US" dirty="0"/>
              <a:t>、</a:t>
            </a:r>
            <a:r>
              <a:rPr lang="en-US" altLang="zh-CN" dirty="0"/>
              <a:t>Protocol</a:t>
            </a:r>
            <a:r>
              <a:rPr lang="zh-CN" altLang="en-US" dirty="0"/>
              <a:t>、</a:t>
            </a:r>
            <a:r>
              <a:rPr lang="en-US" altLang="zh-CN" dirty="0"/>
              <a:t>Function </a:t>
            </a:r>
            <a:r>
              <a:rPr lang="zh-CN" altLang="en-US" dirty="0"/>
              <a:t>三层架构设计。</a:t>
            </a:r>
            <a:endParaRPr lang="en-US" altLang="zh-CN" dirty="0"/>
          </a:p>
          <a:p>
            <a:pPr>
              <a:spcAft>
                <a:spcPts val="200"/>
              </a:spcAft>
              <a:defRPr sz="1100"/>
            </a:pPr>
            <a:r>
              <a:rPr lang="zh-CN" altLang="en-US" b="1" dirty="0"/>
              <a:t>           业务与通信：</a:t>
            </a:r>
            <a:r>
              <a:rPr lang="zh-CN" altLang="en-US" dirty="0"/>
              <a:t>实现 </a:t>
            </a:r>
            <a:r>
              <a:rPr lang="en-US" altLang="zh-CN" dirty="0"/>
              <a:t>CH0/CH1/CH2 </a:t>
            </a:r>
            <a:r>
              <a:rPr lang="zh-CN" altLang="en-US" dirty="0"/>
              <a:t>三通道采集、浮点数变比换算、阈值告警与 </a:t>
            </a:r>
            <a:r>
              <a:rPr lang="en-US" altLang="zh-CN" dirty="0"/>
              <a:t>Flash </a:t>
            </a:r>
            <a:r>
              <a:rPr lang="zh-CN" altLang="en-US" dirty="0"/>
              <a:t>持久化存储。协议层跑通纯 </a:t>
            </a:r>
            <a:r>
              <a:rPr lang="en-US" altLang="zh-CN" dirty="0"/>
              <a:t>ASCII </a:t>
            </a:r>
            <a:r>
              <a:rPr lang="zh-CN" altLang="en-US" dirty="0"/>
              <a:t>字符串组帧与 </a:t>
            </a:r>
            <a:r>
              <a:rPr lang="en-US" altLang="zh-CN" dirty="0"/>
              <a:t>CRC-16-Modbus </a:t>
            </a:r>
            <a:r>
              <a:rPr lang="zh-CN" altLang="en-US" dirty="0"/>
              <a:t>校验。 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01040" y="5179949"/>
            <a:ext cx="217593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rPr lang="zh-CN" altLang="en-US" dirty="0">
                <a:solidFill>
                  <a:schemeClr val="tx1"/>
                </a:solidFill>
              </a:rPr>
              <a:t>二</a:t>
            </a:r>
            <a:r>
              <a:rPr dirty="0">
                <a:solidFill>
                  <a:schemeClr val="tx1"/>
                </a:solidFill>
              </a:rPr>
              <a:t>、</a:t>
            </a:r>
            <a:r>
              <a:rPr dirty="0" err="1">
                <a:solidFill>
                  <a:schemeClr val="tx1"/>
                </a:solidFill>
              </a:rPr>
              <a:t>未来展望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1040" y="5754547"/>
            <a:ext cx="108127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lang="en-US" dirty="0"/>
              <a:t>       </a:t>
            </a:r>
            <a:r>
              <a:rPr dirty="0" err="1"/>
              <a:t>基于当前设计基础，未来可在以下方向进行优化与扩展：引入物联网通信</a:t>
            </a:r>
            <a:r>
              <a:rPr dirty="0"/>
              <a:t>——在现有RS485接口基础上，扩展4G/5G或LoRaWAN无线通信模块，将采集数据上传至云端，实现远程监控与数据可视化。增强边缘计算能力——</a:t>
            </a:r>
            <a:r>
              <a:rPr dirty="0" err="1"/>
              <a:t>在MCU中集成更先进的数字滤波算法与故障诊断算法，实现现场智能决策。优化人机交互</a:t>
            </a:r>
            <a:r>
              <a:rPr dirty="0"/>
              <a:t>——</a:t>
            </a:r>
            <a:r>
              <a:rPr dirty="0" err="1"/>
              <a:t>升级为带触摸功能的彩色液晶屏，实现更友好的现场参数配置与实时曲线查看功能。提升EMC性能</a:t>
            </a:r>
            <a:r>
              <a:rPr dirty="0"/>
              <a:t>——</a:t>
            </a:r>
            <a:r>
              <a:rPr dirty="0" err="1"/>
              <a:t>增加电源输入端的EMI滤波器及外壳屏蔽设计，通过更严格的工业级电磁兼容认证</a:t>
            </a:r>
            <a:r>
              <a:rPr dirty="0"/>
              <a:t>。</a:t>
            </a:r>
            <a:endParaRPr dirty="0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51092" y="2824887"/>
            <a:ext cx="9489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zh-CN" altLang="en-US" sz="4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请专家评审</a:t>
            </a:r>
            <a:endParaRPr lang="zh-CN" altLang="en-US" sz="40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59607" y="5412084"/>
            <a:ext cx="7872784" cy="958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教育部中德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中外高级别人文交流对话机制成果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中国高等教育学会“</a:t>
            </a:r>
            <a:r>
              <a:rPr lang="zh-CN" altLang="zh-CN" sz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全国普通高校大学生竞赛榜单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”竞赛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中国高等教育学会“</a:t>
            </a:r>
            <a:r>
              <a:rPr lang="zh-CN" altLang="zh-CN" sz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全国普通高校大学生机器人竞赛指数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”竞赛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574" y="944563"/>
            <a:ext cx="1518627" cy="942111"/>
          </a:xfrm>
          <a:prstGeom prst="rect">
            <a:avLst/>
          </a:prstGeom>
        </p:spPr>
      </p:pic>
      <p:sp>
        <p:nvSpPr>
          <p:cNvPr id="2" name="矩形: 圆角 1"/>
          <p:cNvSpPr/>
          <p:nvPr/>
        </p:nvSpPr>
        <p:spPr>
          <a:xfrm>
            <a:off x="3273136" y="4131540"/>
            <a:ext cx="5654964" cy="4742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89169" y="4177998"/>
            <a:ext cx="536748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1">
              <a:spcBef>
                <a:spcPts val="0"/>
              </a:spcBef>
              <a:defRPr/>
            </a:pPr>
            <a:r>
              <a:rPr lang="zh-CN" altLang="en-US" sz="2000" b="1" kern="1200" dirty="0">
                <a:solidFill>
                  <a:srgbClr val="1E52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嵌入式：</a:t>
            </a:r>
            <a:r>
              <a:rPr lang="en-US" altLang="zh-CN" sz="2000" b="1" kern="1200" dirty="0">
                <a:solidFill>
                  <a:srgbClr val="1E52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2000" b="1" kern="1200" dirty="0">
                <a:solidFill>
                  <a:srgbClr val="1E52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（队伍编号）</a:t>
            </a:r>
            <a:endParaRPr lang="zh-CN" altLang="en-US" sz="2000" b="1" kern="1200" dirty="0">
              <a:solidFill>
                <a:srgbClr val="1E52C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b8d46d3a-414d-44e2-8f80-f61a5abfafa7"/>
  <p:tag name="COMMONDATA" val="eyJoZGlkIjoiNmVmYTQ4NTcxMTQ5MjNmOGI3YzNiNDA0YjYzNGFlND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emens 2016 – 16:9">
  <a:themeElements>
    <a:clrScheme name="Siemens 2016 – 16:9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79BAA"/>
      </a:accent1>
      <a:accent2>
        <a:srgbClr val="BECDD7"/>
      </a:accent2>
      <a:accent3>
        <a:srgbClr val="EB780A"/>
      </a:accent3>
      <a:accent4>
        <a:srgbClr val="641946"/>
      </a:accent4>
      <a:accent5>
        <a:srgbClr val="005F87"/>
      </a:accent5>
      <a:accent6>
        <a:srgbClr val="647D2D"/>
      </a:accent6>
      <a:hlink>
        <a:srgbClr val="0000FF"/>
      </a:hlink>
      <a:folHlink>
        <a:srgbClr val="FF00FF"/>
      </a:folHlink>
    </a:clrScheme>
    <a:fontScheme name="Siemens 2016 – 16:9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emens 2016 – 16: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3999" tIns="53999" rIns="53999" bIns="5399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100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100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11562</Words>
  <Application>WPS 演示</Application>
  <PresentationFormat>宽屏</PresentationFormat>
  <Paragraphs>915</Paragraphs>
  <Slides>18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Times New Roman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GJH</dc:creator>
  <cp:lastModifiedBy>Wait.</cp:lastModifiedBy>
  <cp:revision>1003</cp:revision>
  <dcterms:created xsi:type="dcterms:W3CDTF">2023-02-28T05:29:00Z</dcterms:created>
  <dcterms:modified xsi:type="dcterms:W3CDTF">2026-09-15T07:45:19Z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3DA7666DCE5E4522AC5472ECE8DF6089_13</vt:lpwstr>
  </property>
  <property fmtid="{D5CDD505-2E9C-101B-9397-08002B2CF9AE}" pid="3" name="KSOProductBuildVer">
    <vt:lpwstr>2052-11.1.0.10009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2025-06-14T10:12:55Z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d327d3be-37c0-4329-bd6a-e4ce43ec6386</vt:lpwstr>
  </property>
  <property fmtid="{D5CDD505-2E9C-101B-9397-08002B2CF9AE}" pid="9" name="MSIP_Label_defa4170-0d19-0005-0004-bc88714345d2_ActionId">
    <vt:lpwstr>727028af-9020-4d20-9d01-776c78f56194</vt:lpwstr>
  </property>
  <property fmtid="{D5CDD505-2E9C-101B-9397-08002B2CF9AE}" pid="10" name="MSIP_Label_defa4170-0d19-0005-0004-bc88714345d2_ContentBits">
    <vt:lpwstr>0</vt:lpwstr>
  </property>
  <property fmtid="{D5CDD505-2E9C-101B-9397-08002B2CF9AE}" pid="11" name="MSIP_Label_defa4170-0d19-0005-0004-bc88714345d2_Tag">
    <vt:lpwstr>50, 3, 0, 1</vt:lpwstr>
  </property>
</Properties>
</file>